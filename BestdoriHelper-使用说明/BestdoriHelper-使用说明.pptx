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padding: 0, position: 'relative', overflow: 'hidden', background: '#1F2430' }}&gt;&#13;&#10;&#13;&#10;    {/* ===== 背景：抽象几何（深色科技氛围）===== */}&#13;&#10;    &lt;Box style={{ position: 'absolute', top: 0, left: 0, width: 1280, height: 720 }}&gt;&#13;&#10;        &lt;svg width={1280} height={720} viewBox='0 0 1280 720'&gt;&#13;&#10;            {/* 底色渐变 */}&#13;&#10;            &lt;defs&gt;&#13;&#10;                &lt;linearGradient id='coverBg' x1='0' y1='0' x2='1' y2='1'&gt;&#13;&#10;                    &lt;stop offset='0%' stopColor='#1F2430' /&gt;&#13;&#10;                    &lt;stop offset='55%' stopColor='#252B39' /&gt;&#13;&#10;                    &lt;stop offset='100%' stopColor='#2C3444' /&gt;&#13;&#10;                &lt;/linearGradient&gt;&#13;&#10;                &lt;radialGradient id='glow' cx='0.78' cy='0.28' r='0.62'&gt;&#13;&#10;                    &lt;stop offset='0%' stopColor='#E8478B' stopOpacity='0.42' /&gt;&#13;&#10;                    &lt;stop offset='55%' stopColor='#E8478B' stopOpacity='0.10' /&gt;&#13;&#10;                    &lt;stop offset='100%' stopColor='#E8478B' stopOpacity='0' /&gt;&#13;&#10;                &lt;/radialGradient&gt;&#13;&#10;                &lt;linearGradient id='bar' x1='0' y1='0' x2='1' y2='0'&gt;&#13;&#10;                    &lt;stop offset='0%' stopColor='#E8478B' /&gt;&#13;&#10;                    &lt;stop offset='100%' stopColor='#E8478B' stopOpacity='0.15' /&gt;&#13;&#10;                &lt;/linearGradient&gt;&#13;&#10;            &lt;/defs&gt;&#13;&#10;&#13;&#10;            &lt;rect x='0' y='0' width='1280' height='720' fill='url(#coverBg)' /&gt;&#13;&#10;            &lt;rect x='0' y='0' width='1280' height='720' fill='url(#glow)' /&gt;&#13;&#10;&#13;&#10;            {/* 网格线：暗示&quot;逐格切分&quot;这件事本身 */}&#13;&#10;            &lt;g stroke='#FFFFFF' strokeOpacity='0.05' strokeWidth='1'&gt;&#13;&#10;                &lt;line x1='0' y1='180' x2='1280' y2='180' /&gt;&#13;&#10;                &lt;line x1='0' y1='360' x2='1280' y2='360' /&gt;&#13;&#10;                &lt;line x1='0' y1='540' x2='1280' y2='540' /&gt;&#13;&#10;                &lt;line x1='320' y1='0' x2='320' y2='720' /&gt;&#13;&#10;                &lt;line x1='640' y1='0' x2='640' y2='720' /&gt;&#13;&#10;                &lt;line x1='960' y1='0' x2='960' y2='720' /&gt;&#13;&#10;            &lt;/g&gt;&#13;&#10;&#13;&#10;            {/* 右侧卡面示意：几个圆角方块，呼应&quot;卡&quot; */}&#13;&#10;            &lt;g opacity='0.9'&gt;&#13;&#10;                &lt;rect x='842' y='196' width='112' height='150' rx='10' fill='#E8478B' fillOpacity='0.55' /&gt;&#13;&#10;                &lt;rect x='972' y='150' width='112' height='150' rx='10' fill='#FFFFFF' fillOpacity='0.10' /&gt;&#13;&#10;                &lt;rect x='842' y='366' width='112' height='150' rx='10' fill='#FFFFFF' fillOpacity='0.06' /&gt;&#13;&#10;                &lt;rect x='972' y='320' width='112' height='150' rx='10' fill='#E8478B' fillOpacity='0.22' /&gt;&#13;&#10;            &lt;/g&gt;&#13;&#10;&#13;&#10;            {/* 左下角装饰弧 */}&#13;&#10;            &lt;circle cx='120' cy='690' r='210' fill='none' stroke='#E8478B' strokeOpacity='0.16' strokeWidth='1.5' /&gt;&#13;&#10;            &lt;circle cx='120' cy='690' r='290' fill='none' stroke='#FFFFFF' strokeOpacity='0.05' strokeWidth='1' /&gt;&#13;&#10;        &lt;/svg&gt;&#13;&#10;    &lt;/Box&gt;&#13;&#10;&#13;&#10;    {/* ===== 内容：左侧骑线 ===== */}&#13;&#10;    &lt;Box style={{&#13;&#10;        position: 'relative',&#13;&#10;        zIndex: 1,&#13;&#10;        height: '100%',&#13;&#10;        flexDirection: 'column',&#13;&#10;        justifyContent: 'center',&#13;&#10;        paddingLeft: 96,&#13;&#10;        paddingRight: 96,&#13;&#10;        gap: 26,&#13;&#10;    }}&gt;&#13;&#10;        {/* 小标签 */}&#13;&#10;        &lt;Box style={{ flexDirection: 'row', alignItems: 'center', gap: 12 }}&gt;&#13;&#10;            &lt;Box style={{ width: 44, height: 4, background: '#E8478B', borderRadius: 2 }} /&gt;&#13;&#10;            &lt;Text style={{ fontSize: 20, color: '#E8478B', fontWeight: 'bold', letterSpacing: 3 }}&gt;&#13;&#10;                使用说明&#13;&#10;            &lt;/Text&gt;&#13;&#10;        &lt;/Box&gt;&#13;&#10;&#13;&#10;        {/* 主标题 */}&#13;&#10;        &lt;Text style={{ fontSize: 76, fontWeight: 'bold', color: '#FFFFFF', lineHeight: 1.15, letterSpacing: 1 }}&gt;&#13;&#10;            &lt;&gt;&#13;&#10;                Bestdori&lt;span style={{ color: '#E8478B' }}&gt;Helper&lt;/span&gt;&#13;&#10;            &lt;/&gt;&#13;&#10;        &lt;/Text&gt;&#13;&#10;&#13;&#10;        {/* 副标题 */}&#13;&#10;        &lt;Text style={{ fontSize: 30, color: '#C9CEDA', lineHeight: 1.5 }}&gt;&#13;&#10;            把游戏截图变成 Bestdori 卡册&#13;&#10;        &lt;/Text&gt;&#13;&#10;&#13;&#10;        {/* 一句话说清它干什么 */}&#13;&#10;        &lt;Box style={{ marginTop: 14, flexDirection: 'row', alignItems: 'center', gap: 14 }}&gt;&#13;&#10;            &lt;Text style={{ fontSize: 22, color: '#8A93A6' }}&gt;&#13;&#10;                导入截图&#13;&#10;            &lt;/Text&gt;&#13;&#10;            &lt;Text style={{ fontSize: 22, color: '#E8478B' }}&gt;→&lt;/Text&gt;&#13;&#10;            &lt;Text style={{ fontSize: 22, color: '#8A93A6' }}&gt;&#13;&#10;                自动识别卡面&#13;&#10;            &lt;/Text&gt;&#13;&#10;            &lt;Text style={{ fontSize: 22, color: '#E8478B' }}&gt;→&lt;/Text&gt;&#13;&#10;            &lt;Text style={{ fontSize: 22, color: '#8A93A6' }}&gt;&#13;&#10;                同步到「我的卡牌」&#13;&#10;            &lt;/Text&gt;&#13;&#10;        &lt;/Box&gt;&#13;&#10;    &lt;/Box&gt;&#13;&#10;&#13;&#10;    {/* 左下角来源标注 */}&#13;&#10;    &lt;Box style={{ position: 'absolute', left: 96, bottom: 46, zIndex: 1 }}&gt;&#13;&#10;        &lt;Text style={{ fontSize: 15, color: '#6B7280' }}&gt;&#13;&#10;            《BanG Dream! 少女乐团派对》卡面管理工具 · 网页 / 安卓 / Windows 三端通用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914400" y="208597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447800" y="1990725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225">
                <a:solidFill>
                  <a:srgbClr val="E8478B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2466975"/>
            <a:ext cx="10363200" cy="10001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5700" b="1" spc="75">
                <a:solidFill>
                  <a:srgbClr val="FFFFFF"/>
                </a:solidFill>
                <a:latin typeface="Microsoft YaHei"/>
                <a:ea typeface="Microsoft YaHei"/>
              </a:rPr>
              <a:t>Bestdori</a:t>
            </a:r>
            <a:r>
              <a:rPr lang="en-US" sz="5700" b="1" spc="75">
                <a:solidFill>
                  <a:srgbClr val="E8478B"/>
                </a:solidFill>
                <a:latin typeface="Microsoft YaHei"/>
                <a:ea typeface="Microsoft YaHei"/>
              </a:rPr>
              <a:t>Helper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3714750"/>
            <a:ext cx="103632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250">
                <a:solidFill>
                  <a:srgbClr val="C9CEDA"/>
                </a:solidFill>
                <a:latin typeface="Microsoft YaHei"/>
                <a:ea typeface="Microsoft YaHei"/>
              </a:rPr>
              <a:t>把游戏截图变成</a:t>
            </a:r>
            <a:r>
              <a:rPr lang="en-US" sz="2250">
                <a:solidFill>
                  <a:srgbClr val="C9CEDA"/>
                </a:solidFill>
                <a:latin typeface="Microsoft YaHei"/>
                <a:ea typeface="Microsoft YaHei"/>
              </a:rPr>
              <a:t xml:space="preserve"> Bestdori </a:t>
            </a:r>
            <a:r>
              <a:rPr lang="zh-CN" sz="2250">
                <a:solidFill>
                  <a:srgbClr val="C9CEDA"/>
                </a:solidFill>
                <a:latin typeface="Microsoft YaHei"/>
                <a:ea typeface="Microsoft YaHei"/>
              </a:rPr>
              <a:t>卡册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46101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A93A6"/>
                </a:solidFill>
                <a:latin typeface="Microsoft YaHei"/>
                <a:ea typeface="Microsoft YaHei"/>
              </a:rPr>
              <a:t>导入截图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885950" y="46101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E8478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228850" y="46101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A93A6"/>
                </a:solidFill>
                <a:latin typeface="Microsoft YaHei"/>
                <a:ea typeface="Microsoft YaHei"/>
              </a:rPr>
              <a:t>自动识别卡面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619500" y="46101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E8478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962400" y="461010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A93A6"/>
                </a:solidFill>
                <a:latin typeface="Microsoft YaHei"/>
                <a:ea typeface="Microsoft YaHei"/>
              </a:rPr>
              <a:t>同步到「我的卡牌」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14400" y="6248400"/>
            <a:ext cx="518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《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BanG Dream!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少女乐团派对》卡面管理工具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网页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安卓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 / Windows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三端通用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style={{ width: 1280, height: 720, padding: '20px 72px', background: '#F7F8FA', flexDirection: 'column' }}&gt;&#13;&#10;&#13;&#10;    {/* ===== A · 标题块 ===== */}&#13;&#10;    &lt;Box style={{ height: 100, flexDirection: 'row', alignItems: 'center' }}&gt;&#13;&#10;        &lt;Text style={{ fontSize: 36, fontWeight: 'bold', color: '#1F2430' }}&gt;&#13;&#10;            这份说明讲什么&#13;&#10;        &lt;/Text&gt;&#13;&#10;    &lt;/Box&gt;&#13;&#10;&#13;&#10;    {/* ===== B · 内容区（左标题栏 32% + 右内容 68%）===== */}&#13;&#10;    &lt;Box style={{ flex: 1, flexDirection: 'row' }}&gt;&#13;&#10;&#13;&#10;        {/* 左：深色标题栏 */}&#13;&#10;        &lt;Box style={{&#13;&#10;            width: 366,&#13;&#10;            background: 'linear-gradient(135deg, #1F2430 0%, #2C3444 100%)',&#13;&#10;            borderRadius: '12px 0 0 12px',&#13;&#10;            padding: '40px 34px',&#13;&#10;            flexDirection: 'column',&#13;&#10;            justifyContent: 'space-between',&#13;&#10;        }}&gt;&#13;&#10;            &lt;Box style={{ flexDirection: 'column', gap: 16 }}&gt;&#13;&#10;                &lt;Box style={{ width: 44, height: 4, background: '#E8478B', borderRadius: 2 }} /&gt;&#13;&#10;                &lt;Text style={{ fontSize: 40, fontWeight: 'bold', color: '#FFFFFF', lineHeight: 1.25 }}&gt;&#13;&#10;                    目录&#13;&#10;                &lt;/Text&gt;&#13;&#10;                &lt;Text style={{ fontSize: 19, color: '#8A93A6', lineHeight: 1.6 }}&gt;&#13;&#10;                    两个章节，从「怎么用」讲到「怎么同步」&#13;&#10;                &lt;/Text&gt;&#13;&#10;            &lt;/Box&gt;&#13;&#10;            &lt;Text style={{ fontSize: 16, color: '#5A6376' }}&gt;&#13;&#10;                全程 15 页 · 约 5 分钟&#13;&#10;            &lt;/Text&gt;&#13;&#10;        &lt;/Box&gt;&#13;&#10;&#13;&#10;        {/* 右：章节条目 */}&#13;&#10;        &lt;Box style={{&#13;&#10;            flex: 1,&#13;&#10;            background: '#FFFFFF',&#13;&#10;            borderRadius: '0 12px 12px 0',&#13;&#10;            padding: '40px 44px',&#13;&#10;            flexDirection: 'column',&#13;&#10;            justifyContent: 'center',&#13;&#10;            gap: 30,&#13;&#10;            boxShadow: '0 2px 12px rgba(31,36,48,0.06)',&#13;&#10;        }}&gt;&#13;&#10;&#13;&#10;            {/* 第 1 章 */}&#13;&#10;            &lt;Box style={{ flexDirection: 'row', gap: 24, alignItems: 'flex-start' }}&gt;&#13;&#10;                &lt;Text style={{ fontSize: 46, fontWeight: 'bold', color: '#E8478B', lineHeight: 1.05, width: 82 }}&gt;&#13;&#10;                    01&#13;&#10;                &lt;/Text&gt;&#13;&#10;                &lt;Box style={{ flex: 1, flexDirection: 'column', gap: 8 }}&gt;&#13;&#10;                    &lt;Text style={{ fontSize: 28, fontWeight: 'bold', color: '#1F2430' }}&gt;&#13;&#10;                        开始使用&#13;&#10;                    &lt;/Text&gt;&#13;&#10;                    &lt;Text style={{ fontSize: 21, color: '#5A6376', lineHeight: 1.6 }}&gt;&#13;&#10;                        三个版本怎么选 · 四步走完整个流程&#13;&#10;                        &lt;br /&gt;&#13;&#10;                        导入截图 · 核对修正 · 卡面清单 · 导出&#13;&#10;                    &lt;/Text&gt;&#13;&#10;                    &lt;Text style={{ fontSize: 16, color: '#8A93A6' }}&gt;&#13;&#10;                        第 03 – 09 页&#13;&#10;                    &lt;/Text&gt;&#13;&#10;                &lt;/Box&gt;&#13;&#10;            &lt;/Box&gt;&#13;&#10;&#13;&#10;            &lt;Box style={{ height: 1, background: '#E4E7EE' }} /&gt;&#13;&#10;&#13;&#10;            {/* 第 2 章 */}&#13;&#10;            &lt;Box style={{ flexDirection: 'row', gap: 24, alignItems: 'flex-start' }}&gt;&#13;&#10;                &lt;Text style={{ fontSize: 46, fontWeight: 'bold', color: '#E8478B', lineHeight: 1.05, width: 82 }}&gt;&#13;&#10;                    02&#13;&#10;                &lt;/Text&gt;&#13;&#10;                &lt;Box style={{ flex: 1, flexDirection: 'column', gap: 8 }}&gt;&#13;&#10;                    &lt;Text style={{ fontSize: 28, fontWeight: 'bold', color: '#1F2430' }}&gt;&#13;&#10;                        同步到 Bestdori&#13;&#10;                    &lt;/Text&gt;&#13;&#10;                    &lt;Text style={{ fontSize: 21, color: '#5A6376', lineHeight: 1.6 }}&gt;&#13;&#10;                        把清单写进「我的卡牌」&#13;&#10;                        &lt;br /&gt;&#13;&#10;                        安卓 App 一键同步 · 网页版导出档案导入&#13;&#10;                    &lt;/Text&gt;&#13;&#10;                    &lt;Text style={{ fontSize: 16, color: '#8A93A6' }}&gt;&#13;&#10;                        第 10 – 12 页&#13;&#10;                    &lt;/Text&gt;&#13;&#10;                &lt;/Box&gt;&#13;&#10;            &lt;/Box&gt;&#13;&#10;&#13;&#10;        &lt;/Box&gt;&#13;&#10;    &lt;/Box&gt;&#13;&#10;&#13;&#10;    {/* ===== C · 页脚条 ===== */}&#13;&#10;    &lt;Box style={{ height: 60, flexDirection: 'row', alignItems: 'center', justifyContent: 'space-between' }}&gt;&#13;&#10;        &lt;Text style={{ fontSize: 15, color: '#8A93A6' }}&gt;&#13;&#10;            BestdoriHelper 使用说明&#13;&#10;        &lt;/Text&gt;&#13;&#10;        &lt;Text style={{ fontSize: 15, color: '#8A93A6' }}&gt;&#13;&#10;            02 / 15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85800" y="45720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这份说明讲什么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85800" y="1143000"/>
            <a:ext cx="3486150" cy="4953000"/>
          </a:xfrm>
          <a:custGeom>
            <a:pathLst>
              <a:path w="366" h="520">
                <a:moveTo>
                  <a:pt x="12" y="0"/>
                </a:moveTo>
                <a:lnTo>
                  <a:pt x="366" y="0"/>
                </a:lnTo>
                <a:lnTo>
                  <a:pt x="366" y="0"/>
                </a:lnTo>
                <a:lnTo>
                  <a:pt x="366" y="520"/>
                </a:lnTo>
                <a:lnTo>
                  <a:pt x="366" y="520"/>
                </a:lnTo>
                <a:lnTo>
                  <a:pt x="12" y="520"/>
                </a:lnTo>
                <a:cubicBezTo>
                  <a:pt x="5" y="520"/>
                  <a:pt x="0" y="515"/>
                  <a:pt x="0" y="50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gradFill>
            <a:gsLst>
              <a:gs pos="0">
                <a:srgbClr val="1F2430"/>
              </a:gs>
              <a:gs pos="100000">
                <a:srgbClr val="2C344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1009650" y="15240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009650" y="1714500"/>
            <a:ext cx="283845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009650" y="2438400"/>
            <a:ext cx="28384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8A93A6"/>
                </a:solidFill>
                <a:latin typeface="Microsoft YaHei"/>
                <a:ea typeface="Microsoft YaHei"/>
              </a:rPr>
              <a:t>两个章节，从「怎么用」讲到「怎么同步」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09650" y="5524500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全程</a:t>
            </a:r>
            <a:r>
              <a:rPr lang="en-US" sz="1200">
                <a:solidFill>
                  <a:srgbClr val="5A6376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页</a:t>
            </a:r>
            <a:r>
              <a:rPr lang="en-US" sz="1200">
                <a:solidFill>
                  <a:srgbClr val="5A637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约</a:t>
            </a:r>
            <a:r>
              <a:rPr lang="en-US" sz="1200">
                <a:solidFill>
                  <a:srgbClr val="5A6376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171950" y="1143000"/>
            <a:ext cx="7334250" cy="4953000"/>
          </a:xfrm>
          <a:custGeom>
            <a:pathLst>
              <a:path w="770" h="520">
                <a:moveTo>
                  <a:pt x="0" y="0"/>
                </a:moveTo>
                <a:lnTo>
                  <a:pt x="758" y="0"/>
                </a:lnTo>
                <a:cubicBezTo>
                  <a:pt x="765" y="0"/>
                  <a:pt x="770" y="5"/>
                  <a:pt x="770" y="12"/>
                </a:cubicBezTo>
                <a:lnTo>
                  <a:pt x="770" y="508"/>
                </a:lnTo>
                <a:cubicBezTo>
                  <a:pt x="770" y="515"/>
                  <a:pt x="765" y="520"/>
                  <a:pt x="758" y="520"/>
                </a:cubicBezTo>
                <a:lnTo>
                  <a:pt x="0" y="520"/>
                </a:lnTo>
                <a:lnTo>
                  <a:pt x="0" y="52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591050" y="1895475"/>
            <a:ext cx="781050" cy="5524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450" b="1">
                <a:solidFill>
                  <a:srgbClr val="E8478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600700" y="1895475"/>
            <a:ext cx="5486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430"/>
                </a:solidFill>
                <a:latin typeface="Microsoft YaHei"/>
                <a:ea typeface="Microsoft YaHei"/>
              </a:rPr>
              <a:t>开始使用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600700" y="2295525"/>
            <a:ext cx="54864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5A6376"/>
                </a:solidFill>
                <a:latin typeface="Microsoft YaHei"/>
                <a:ea typeface="Microsoft YaHei"/>
              </a:rPr>
              <a:t>三个版本怎么选</a:t>
            </a:r>
            <a:r>
              <a:rPr lang="en-US" sz="1575">
                <a:solidFill>
                  <a:srgbClr val="5A637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5A6376"/>
                </a:solidFill>
                <a:latin typeface="Microsoft YaHei"/>
                <a:ea typeface="Microsoft YaHei"/>
              </a:rPr>
              <a:t>四步走完整个流程</a:t>
            </a:r>
            <a:endParaRPr/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5A6376"/>
                </a:solidFill>
                <a:latin typeface="Microsoft YaHei"/>
                <a:ea typeface="Microsoft YaHei"/>
              </a:rPr>
              <a:t>导入截图</a:t>
            </a:r>
            <a:r>
              <a:rPr lang="en-US" sz="1575">
                <a:solidFill>
                  <a:srgbClr val="5A637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5A6376"/>
                </a:solidFill>
                <a:latin typeface="Microsoft YaHei"/>
                <a:ea typeface="Microsoft YaHei"/>
              </a:rPr>
              <a:t>核对修正</a:t>
            </a:r>
            <a:r>
              <a:rPr lang="en-US" sz="1575">
                <a:solidFill>
                  <a:srgbClr val="5A637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5A6376"/>
                </a:solidFill>
                <a:latin typeface="Microsoft YaHei"/>
                <a:ea typeface="Microsoft YaHei"/>
              </a:rPr>
              <a:t>卡面清单</a:t>
            </a:r>
            <a:r>
              <a:rPr lang="en-US" sz="1575">
                <a:solidFill>
                  <a:srgbClr val="5A637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5A6376"/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600700" y="3143250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3A6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8A93A6"/>
                </a:solidFill>
                <a:latin typeface="Microsoft YaHei"/>
                <a:ea typeface="Microsoft YaHei"/>
              </a:rPr>
              <a:t xml:space="preserve"> 03 – 09 </a:t>
            </a:r>
            <a:r>
              <a:rPr lang="zh-CN" sz="1200">
                <a:solidFill>
                  <a:srgbClr val="8A93A6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4591050" y="3619500"/>
            <a:ext cx="6496050" cy="9525"/>
          </a:xfrm>
          <a:prstGeom prst="rect">
            <a:avLst/>
          </a:prstGeom>
          <a:solidFill>
            <a:srgbClr val="E4E7EE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591050" y="3914775"/>
            <a:ext cx="781050" cy="5524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450" b="1">
                <a:solidFill>
                  <a:srgbClr val="E8478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600700" y="3914775"/>
            <a:ext cx="5486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430"/>
                </a:solidFill>
                <a:latin typeface="Microsoft YaHei"/>
                <a:ea typeface="Microsoft YaHei"/>
              </a:rPr>
              <a:t>同步到</a:t>
            </a:r>
            <a:r>
              <a:rPr lang="en-US" sz="2100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Bestdori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600700" y="4314825"/>
            <a:ext cx="54864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5A6376"/>
                </a:solidFill>
                <a:latin typeface="Microsoft YaHei"/>
                <a:ea typeface="Microsoft YaHei"/>
              </a:rPr>
              <a:t>把清单写进「我的卡牌」</a:t>
            </a:r>
            <a:endParaRPr/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5A6376"/>
                </a:solidFill>
                <a:latin typeface="Microsoft YaHei"/>
                <a:ea typeface="Microsoft YaHei"/>
              </a:rPr>
              <a:t>安卓</a:t>
            </a:r>
            <a:r>
              <a:rPr lang="en-US" sz="1575">
                <a:solidFill>
                  <a:srgbClr val="5A6376"/>
                </a:solidFill>
                <a:latin typeface="Microsoft YaHei"/>
                <a:ea typeface="Microsoft YaHei"/>
              </a:rPr>
              <a:t xml:space="preserve"> App </a:t>
            </a:r>
            <a:r>
              <a:rPr lang="zh-CN" sz="1575">
                <a:solidFill>
                  <a:srgbClr val="5A6376"/>
                </a:solidFill>
                <a:latin typeface="Microsoft YaHei"/>
                <a:ea typeface="Microsoft YaHei"/>
              </a:rPr>
              <a:t>一键同步</a:t>
            </a:r>
            <a:r>
              <a:rPr lang="en-US" sz="1575">
                <a:solidFill>
                  <a:srgbClr val="5A637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5A6376"/>
                </a:solidFill>
                <a:latin typeface="Microsoft YaHei"/>
                <a:ea typeface="Microsoft YaHei"/>
              </a:rPr>
              <a:t>网页版导出档案导入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600700" y="5162550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3A6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8A93A6"/>
                </a:solidFill>
                <a:latin typeface="Microsoft YaHei"/>
                <a:ea typeface="Microsoft YaHei"/>
              </a:rPr>
              <a:t xml:space="preserve"> 10 – 12 </a:t>
            </a:r>
            <a:r>
              <a:rPr lang="zh-CN" sz="1200">
                <a:solidFill>
                  <a:srgbClr val="8A93A6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85800" y="62960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BestdoriHelper </a:t>
            </a: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1020425" y="6296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3" name="" descr="&lt;Slide style={{ width: 1280, height: 720, padding: 0, position: 'relative', overflow: 'hidden', background: '#1F2430' }}&gt;&#13;&#10;&#13;&#10;    {/* ===== 背景 ===== */}&#13;&#10;    &lt;Box style={{ position: 'absolute', top: 0, left: 0, width: 1280, height: 720 }}&gt;&#13;&#10;        &lt;svg width={1280} height={720} viewBox='0 0 1280 720'&gt;&#13;&#10;            &lt;defs&gt;&#13;&#10;                &lt;linearGradient id='s1bg' x1='0' y1='0' x2='1' y2='1'&gt;&#13;&#10;                    &lt;stop offset='0%' stopColor='#1B1F2A' /&gt;&#13;&#10;                    &lt;stop offset='100%' stopColor='#2A3242' /&gt;&#13;&#10;                &lt;/linearGradient&gt;&#13;&#10;                &lt;radialGradient id='s1glow' cx='0.22' cy='0.72' r='0.66'&gt;&#13;&#10;                    &lt;stop offset='0%' stopColor='#E8478B' stopOpacity='0.30' /&gt;&#13;&#10;                    &lt;stop offset='100%' stopColor='#E8478B' stopOpacity='0' /&gt;&#13;&#10;                &lt;/radialGradient&gt;&#13;&#10;            &lt;/defs&gt;&#13;&#10;            &lt;rect x='0' y='0' width='1280' height='720' fill='url(#s1bg)' /&gt;&#13;&#10;            &lt;rect x='0' y='0' width='1280' height='720' fill='url(#s1glow)' /&gt;&#13;&#10;&#13;&#10;            {/* 右侧细密网格：呼应&quot;一格一格切出来&quot; */}&#13;&#10;            &lt;g stroke='#FFFFFF' strokeOpacity='0.045' strokeWidth='1'&gt;&#13;&#10;                &lt;line x1='900' y1='0' x2='900' y2='720' /&gt;&#13;&#10;                &lt;line x1='996' y1='0' x2='996' y2='720' /&gt;&#13;&#10;                &lt;line x1='1092' y1='0' x2='1092' y2='720' /&gt;&#13;&#10;                &lt;line x1='1188' y1='0' x2='1188' y2='720' /&gt;&#13;&#10;                &lt;line x1='900' y1='144' x2='1280' y2='144' /&gt;&#13;&#10;                &lt;line x1='900' y1='288' x2='1280' y2='288' /&gt;&#13;&#10;                &lt;line x1='900' y1='432' x2='1280' y2='432' /&gt;&#13;&#10;                &lt;line x1='900' y1='576' x2='1280' y2='576' /&gt;&#13;&#10;            &lt;/g&gt;&#13;&#10;            &lt;rect x='900' y='144' width='96' height='144' fill='#E8478B' fillOpacity='0.20' /&gt;&#13;&#10;            &lt;rect x='1092' y='432' width='96' height='144' fill='#E8478B' fillOpacity='0.12' /&gt;&#13;&#10;        &lt;/svg&gt;&#13;&#10;    &lt;/Box&gt;&#13;&#10;&#13;&#10;    {/* ===== 内容 ===== */}&#13;&#10;    &lt;Box style={{&#13;&#10;        position: 'relative',&#13;&#10;        zIndex: 1,&#13;&#10;        height: '100%',&#13;&#10;        flexDirection: 'column',&#13;&#10;        justifyContent: 'center',&#13;&#10;        paddingLeft: 96,&#13;&#10;        paddingRight: 96,&#13;&#10;        gap: 20,&#13;&#10;    }}&gt;&#13;&#10;        {/* 章节编号：视觉锚点 */}&#13;&#10;        &lt;Text style={{ fontSize: 150, fontWeight: 'bold', color: '#E8478B', lineHeight: 1.0, letterSpacing: 2 }}&gt;&#13;&#10;            01&#13;&#10;        &lt;/Text&gt;&#13;&#10;&#13;&#10;        &lt;Text style={{ fontSize: 64, fontWeight: 'bold', color: '#FFFFFF', lineHeight: 1.15 }}&gt;&#13;&#10;            开始使用&#13;&#10;        &lt;/Text&gt;&#13;&#10;&#13;&#10;        &lt;Box style={{ width: 68, height: 4, background: '#E8478B', borderRadius: 2, marginTop: 6 }} /&gt;&#13;&#10;&#13;&#10;        &lt;Text style={{ fontSize: 22, color: '#8A93A6', marginTop: 6 }}&gt;&#13;&#10;            从选版本到导出清单，四步走完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p/>
        </p:txBody>
      </p:sp>
      <p:pic>
        <p:nvPicPr>
          <p:cNvPr id="175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914400" y="1657350"/>
            <a:ext cx="10363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 spc="150">
                <a:solidFill>
                  <a:srgbClr val="E8478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914400" y="3562350"/>
            <a:ext cx="103632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开始使用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914400" y="4657725"/>
            <a:ext cx="647700" cy="3810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14400" y="494347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A93A6"/>
                </a:solidFill>
                <a:latin typeface="Microsoft YaHei"/>
                <a:ea typeface="Microsoft YaHei"/>
              </a:rPr>
              <a:t>从选版本到导出清单，四步走完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80" name="" descr="&lt;Slide style={{ width: 1280, height: 720, padding: '20px 72px', background: '#F7F8FA', flexDirection: 'column' }}&gt;&#13;&#10;&#13;&#10;    {/* ===== A · 标题块 ===== */}&#13;&#10;    &lt;Box style={{ height: 100, flexDirection: 'row', alignItems: 'center', gap: 16 }}&gt;&#13;&#10;        &lt;Box style={{ width: 6, height: 38, background: '#E8478B', borderRadius: 3 }} /&gt;&#13;&#10;        &lt;Text style={{ fontSize: 36, fontWeight: 'bold', color: '#1F2430' }}&gt;&#13;&#10;            三个版本，怎么选&#13;&#10;        &lt;/Text&gt;&#13;&#10;    &lt;/Box&gt;&#13;&#10;&#13;&#10;    {/* ===== B · 内容区（65:35）===== */}&#13;&#10;    &lt;Box style={{ flex: 1, flexDirection: 'row', gap: 34 }}&gt;&#13;&#10;&#13;&#10;        {/* 左 65%：三端说明 */}&#13;&#10;        &lt;Box style={{ width: 715, flexDirection: 'column', gap: 14 }}&gt;&#13;&#10;&#13;&#10;            {/* 网页版 */}&#13;&#10;            &lt;Box style={{&#13;&#10;                background: '#FFFFFF', borderRadius: 12, padding: '20px 26px',&#13;&#10;                flexDirection: 'column', gap: 5,&#13;&#10;                borderLeft: '4px solid #D5DAE4',&#13;&#10;                boxShadow: '0 2px 12px rgba(31,36,48,0.06)',&#13;&#10;            }}&gt;&#13;&#10;                &lt;Box style={{ flexDirection: 'row', alignItems: 'center', gap: 12 }}&gt;&#13;&#10;                    &lt;Text style={{ fontSize: 25, fontWeight: 'bold', color: '#1F2430' }}&gt;网页版&lt;/Text&gt;&#13;&#10;                    &lt;Text style={{ fontSize: 15, color: '#8A93A6' }}&gt;免安装&lt;/Text&gt;&#13;&#10;                &lt;/Box&gt;&#13;&#10;                &lt;Text style={{ fontSize: 18, color: '#5A6376', lineHeight: 1.55 }}&gt;&#13;&#10;                    打开网址就能用，适合快速识别完导出清单。&#13;&#10;                &lt;/Text&gt;&#13;&#10;            &lt;/Box&gt;&#13;&#10;&#13;&#10;            {/* 安卓 App：强调（唯一能在手机上直接同步的） */}&#13;&#10;            &lt;Box style={{&#13;&#10;                background: 'rgba(232,71,139,0.07)', borderRadius: 12, padding: '20px 26px',&#13;&#10;                flexDirection: 'column', gap: 5,&#13;&#10;                borderLeft: '4px solid #E8478B',&#13;&#10;                boxShadow: '0 2px 12px rgba(232,71,139,0.10)',&#13;&#10;            }}&gt;&#13;&#10;                &lt;Box style={{ flexDirection: 'row', alignItems: 'center', gap: 12 }}&gt;&#13;&#10;                    &lt;Text style={{ fontSize: 25, fontWeight: 'bold', color: '#1F2430' }}&gt;安卓 App&lt;/Text&gt;&#13;&#10;                    &lt;Text style={{ fontSize: 15, color: '#E8478B', fontWeight: 'bold' }}&gt;想同步就选它&lt;/Text&gt;&#13;&#10;                &lt;/Box&gt;&#13;&#10;                &lt;Text style={{ fontSize: 18, color: '#5A6376', lineHeight: 1.55 }}&gt;&#13;&#10;                    手机上直接把清单写进 Bestdori 的「我的卡牌」，一键完成。&#13;&#10;                &lt;/Text&gt;&#13;&#10;            &lt;/Box&gt;&#13;&#10;&#13;&#10;            {/* 桌面版 */}&#13;&#10;            &lt;Box style={{&#13;&#10;                background: '#FFFFFF', borderRadius: 12, padding: '20px 26px',&#13;&#10;                flexDirection: 'column', gap: 5,&#13;&#10;                borderLeft: '4px solid #D5DAE4',&#13;&#10;                boxShadow: '0 2px 12px rgba(31,36,48,0.06)',&#13;&#10;            }}&gt;&#13;&#10;                &lt;Box style={{ flexDirection: 'row', alignItems: 'center', gap: 12 }}&gt;&#13;&#10;                    &lt;Text style={{ fontSize: 25, fontWeight: 'bold', color: '#1F2430' }}&gt;Windows 桌面版&lt;/Text&gt;&#13;&#10;                    &lt;Text style={{ fontSize: 15, color: '#8A93A6' }}&gt;功能最全&lt;/Text&gt;&#13;&#10;                &lt;/Box&gt;&#13;&#10;                &lt;Text style={{ fontSize: 18, color: '#5A6376', lineHeight: 1.55 }}&gt;&#13;&#10;                    在电脑上用，界面最完整，适合批量整理。&#13;&#10;                &lt;/Text&gt;&#13;&#10;            &lt;/Box&gt;&#13;&#10;&#13;&#10;            {/* 结论条 */}&#13;&#10;            &lt;Box style={{&#13;&#10;                marginTop: 'auto', background: '#1F2430', borderRadius: 12,&#13;&#10;                padding: '16px 26px', flexDirection: 'row', alignItems: 'center', gap: 14,&#13;&#10;            }}&gt;&#13;&#10;                &lt;Box style={{ width: 5, height: 30, background: '#E8478B', borderRadius: 3 }} /&gt;&#13;&#10;                &lt;Text style={{ fontSize: 19, color: '#FFFFFF', lineHeight: 1.5 }}&gt;&#13;&#10;                    先想清楚要不要同步：要同步选安卓，图省事选网页，要功能全选桌面&#13;&#10;                &lt;/Text&gt;&#13;&#10;            &lt;/Box&gt;&#13;&#10;&#13;&#10;        &lt;/Box&gt;&#13;&#10;&#13;&#10;        {/* 右 35%：三端示意 */}&#13;&#10;        &lt;Box style={{&#13;&#10;            flex: 1, background: '#FFFFFF', borderRadius: 12,&#13;&#10;            padding: '22px 18px', flexDirection: 'column', alignItems: 'center', justifyContent: 'center',&#13;&#10;            gap: 16, boxShadow: '0 2px 12px rgba(31,36,48,0.06)',&#13;&#10;        }}&gt;&#13;&#10;            &lt;svg width={330} height={330} viewBox='0 0 330 330'&gt;&#13;&#10;                {/* 浏览器窗口 */}&#13;&#10;                &lt;rect x='26' y='34' width='150' height='104' rx='8' fill='#F2F4F8' stroke='#C8CEDA' strokeWidth='2' /&gt;&#13;&#10;                &lt;rect x='26' y='34' width='150' height='20' rx='8' fill='#C8CEDA' /&gt;&#13;&#10;                &lt;circle cx='41' cy='44' r='3' fill='#8A93A6' /&gt;&#13;&#10;                &lt;circle cx='52' cy='44' r='3' fill='#8A93A6' /&gt;&#13;&#10;                &lt;circle cx='63' cy='44' r='3' fill='#8A93A6' /&gt;&#13;&#10;                &lt;g fill='#D5DAE4'&gt;&#13;&#10;                    &lt;rect x='40' y='68' width='52' height='46' rx='4' /&gt;&#13;&#10;                    &lt;rect x='102' y='68' width='52' height='46' rx='4' /&gt;&#13;&#10;                &lt;/g&gt;&#13;&#10;                &lt;text x='101' y='164' fontSize='15' fill='#5A6376' textAnchor='middle'&gt;网页&lt;/text&gt;&#13;&#10;&#13;&#10;                {/* 手机（强调：能同步） */}&#13;&#10;                &lt;rect x='200' y='26' width='98' height='170' rx='14' fill='#FFFFFF' stroke='#E8478B' strokeWidth='3' /&gt;&#13;&#10;                &lt;rect x='212' y='44' width='74' height='126' rx='6' fill='#1F2430' /&gt;&#13;&#10;                &lt;rect x='222' y='56' width='54' height='30' rx='3' fill='#E8478B' fillOpacity='0.55' /&gt;&#13;&#10;                &lt;rect x='222' y='94' width='54' height='30' rx='3' fill='#3A4354' /&gt;&#13;&#10;                &lt;rect x='222' y='132' width='54' height='26' rx='3' fill='#3A4354' /&gt;&#13;&#10;                &lt;rect x='236' y='182' width='26' height='7' rx='3.5' fill='#C8CEDA' /&gt;&#13;&#10;                &lt;text x='249' y='222' fontSize='15' fill='#E8478B' fontWeight='bold' textAnchor='middle'&gt;安卓&lt;/text&gt;&#13;&#10;&#13;&#10;                {/* 桌面窗口 */}&#13;&#10;                &lt;rect x='52' y='240' width='196' height='62' rx='8' fill='#F2F4F8' stroke='#C8CEDA' strokeWidth='2' /&gt;&#13;&#10;                &lt;rect x='66' y='256' width='74' height='30' rx='4' fill='#D5DAE4' /&gt;&#13;&#10;                &lt;rect x='150' y='256' width='84' height='30' rx='4' fill='#D5DAE4' /&gt;&#13;&#10;                &lt;text x='150' y='322' fontSize='15' fill='#5A6376' textAnchor='middle'&gt;Windows&lt;/text&gt;&#13;&#10;            &lt;/svg&gt;&#13;&#10;&#13;&#10;            &lt;Text style={{ fontSize: 15, color: '#8A93A6', textAlign: 'center', lineHeight: 1.5 }}&gt;&#13;&#10;                三个平台共用同一套识别&#13;&#10;                &lt;br /&gt;&#13;&#10;                结果和清单格式，界面不同而已&#13;&#10;            &lt;/Text&gt;&#13;&#10;        &lt;/Box&gt;&#13;&#10;&#13;&#10;    &lt;/Box&gt;&#13;&#10;&#13;&#10;    {/* ===== C · 页脚条 ===== */}&#13;&#10;    &lt;Box style={{ height: 60, flexDirection: 'row', alignItems: 'center', justifyContent: 'space-between' }}&gt;&#13;&#10;        &lt;Text style={{ fontSize: 15, color: '#8A93A6' }}&gt;BestdoriHelper 使用说明&lt;/Text&gt;&#13;&#10;        &lt;Text style={{ fontSize: 15, color: '#8A93A6' }}&gt;04 / 15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6858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95350" y="45720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三个版本，怎么选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723900" y="1143000"/>
            <a:ext cx="6810375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723900" y="1143000"/>
            <a:ext cx="6810375" cy="1038225"/>
          </a:xfrm>
          <a:custGeom>
            <a:pathLst>
              <a:path w="715" h="10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1"/>
                </a:lnTo>
                <a:cubicBezTo>
                  <a:pt x="4" y="105"/>
                  <a:pt x="7" y="108"/>
                  <a:pt x="10" y="109"/>
                </a:cubicBezTo>
                <a:cubicBezTo>
                  <a:pt x="4" y="108"/>
                  <a:pt x="0" y="103"/>
                  <a:pt x="0" y="9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5DAE4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971550" y="1333500"/>
            <a:ext cx="7143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F2430"/>
                </a:solidFill>
                <a:latin typeface="Microsoft YaHei"/>
                <a:ea typeface="Microsoft YaHei"/>
              </a:rPr>
              <a:t>网页版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800225" y="13906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免安装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71550" y="1666875"/>
            <a:ext cx="62769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打开网址就能用，适合快速识别完导出清单。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23900" y="2314575"/>
            <a:ext cx="6810375" cy="1038225"/>
          </a:xfrm>
          <a:prstGeom prst="roundRect">
            <a:avLst>
              <a:gd name="adj" fmla="val 11009"/>
            </a:avLst>
          </a:prstGeom>
          <a:solidFill>
            <a:srgbClr val="E8478B">
              <a:alpha val="7000"/>
            </a:srgbClr>
          </a:solidFill>
          <a:ln/>
          <a:effectLst>
            <a:outerShdw blurRad="114300" dist="19050" dir="5400000">
              <a:srgbClr val="E8478B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723900" y="2314575"/>
            <a:ext cx="6810375" cy="1038225"/>
          </a:xfrm>
          <a:custGeom>
            <a:pathLst>
              <a:path w="715" h="10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1"/>
                </a:lnTo>
                <a:cubicBezTo>
                  <a:pt x="4" y="105"/>
                  <a:pt x="7" y="108"/>
                  <a:pt x="10" y="109"/>
                </a:cubicBezTo>
                <a:cubicBezTo>
                  <a:pt x="4" y="108"/>
                  <a:pt x="0" y="103"/>
                  <a:pt x="0" y="9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71550" y="2505075"/>
            <a:ext cx="10477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F2430"/>
                </a:solidFill>
                <a:latin typeface="Microsoft YaHei"/>
                <a:ea typeface="Microsoft YaHei"/>
              </a:rPr>
              <a:t>安卓</a:t>
            </a:r>
            <a:r>
              <a:rPr lang="en-US" sz="1875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App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2133600" y="25622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478B"/>
                </a:solidFill>
                <a:latin typeface="Microsoft YaHei"/>
                <a:ea typeface="Microsoft YaHei"/>
              </a:rPr>
              <a:t>想同步就选它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71550" y="2838450"/>
            <a:ext cx="62769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手机上直接把清单写进</a:t>
            </a:r>
            <a:r>
              <a:rPr lang="en-US" sz="1350">
                <a:solidFill>
                  <a:srgbClr val="5A6376"/>
                </a:solidFill>
                <a:latin typeface="Microsoft YaHei"/>
                <a:ea typeface="Microsoft YaHei"/>
              </a:rPr>
              <a:t xml:space="preserve"> Bestdori </a:t>
            </a: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的「我的卡牌」，一键完成。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23900" y="3486150"/>
            <a:ext cx="6810375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723900" y="3486150"/>
            <a:ext cx="6810375" cy="1038225"/>
          </a:xfrm>
          <a:custGeom>
            <a:pathLst>
              <a:path w="715" h="10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1"/>
                </a:lnTo>
                <a:cubicBezTo>
                  <a:pt x="4" y="105"/>
                  <a:pt x="7" y="108"/>
                  <a:pt x="10" y="109"/>
                </a:cubicBezTo>
                <a:cubicBezTo>
                  <a:pt x="4" y="108"/>
                  <a:pt x="0" y="103"/>
                  <a:pt x="0" y="9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5DAE4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71550" y="3676650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Windows </a:t>
            </a:r>
            <a:r>
              <a:rPr lang="zh-CN" sz="1875" b="1">
                <a:solidFill>
                  <a:srgbClr val="1F2430"/>
                </a:solidFill>
                <a:latin typeface="Microsoft YaHei"/>
                <a:ea typeface="Microsoft YaHei"/>
              </a:rPr>
              <a:t>桌面版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990850" y="37338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功能最全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971550" y="4010025"/>
            <a:ext cx="62769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在电脑上用，界面最完整，适合批量整理。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85800" y="5457825"/>
            <a:ext cx="6810375" cy="638175"/>
          </a:xfrm>
          <a:prstGeom prst="roundRect">
            <a:avLst>
              <a:gd name="adj" fmla="val 17910"/>
            </a:avLst>
          </a:prstGeom>
          <a:solidFill>
            <a:srgbClr val="1F2430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933450" y="56388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14425" y="5610225"/>
            <a:ext cx="56102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先想清楚要不要同步：要同步选安卓，图省事选网页，要功能全选桌面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820025" y="1143000"/>
            <a:ext cx="3686175" cy="49530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03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96250" y="1714500"/>
            <a:ext cx="3143250" cy="3143250"/>
          </a:xfrm>
          <a:prstGeom prst="rect">
            <a:avLst/>
          </a:prstGeom>
          <a:ln/>
        </p:spPr>
      </p:pic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667750" y="5010150"/>
            <a:ext cx="2000250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三个平台共用同一套识别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结果和清单格式，界面不同而已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85800" y="62960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BestdoriHelper </a:t>
            </a: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020425" y="6296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07" name="" descr="&lt;Slide style={{ width: 1280, height: 720, padding: '20px 72px', background: '#F7F8FA', flexDirection: 'column' }}&gt;&#13;&#10;&#13;&#10;    {/* ===== A · 标题块 ===== */}&#13;&#10;    &lt;Box style={{ height: 100, flexDirection: 'row', alignItems: 'center', gap: 16 }}&gt;&#13;&#10;        &lt;Box style={{ width: 6, height: 38, background: '#E8478B', borderRadius: 3 }} /&gt;&#13;&#10;        &lt;Text style={{ fontSize: 36, fontWeight: 'bold', color: '#1F2430' }}&gt;&#13;&#10;            四步走完&#13;&#10;        &lt;/Text&gt;&#13;&#10;    &lt;/Box&gt;&#13;&#10;&#13;&#10;    {/* ===== B · 内容区 ===== */}&#13;&#10;    &lt;Box style={{ flex: 1, flexDirection: 'row', gap: 40, alignItems: 'center' }}&gt;&#13;&#10;&#13;&#10;        {/* 左：巨型锚点数字 */}&#13;&#10;        &lt;Box style={{ width: 330, flexDirection: 'column', alignItems: 'flex-start', gap: 10 }}&gt;&#13;&#10;            &lt;Text style={{ fontSize: 240, fontWeight: 'bold', color: '#E8478B', lineHeight: 0.92, letterSpacing: -6 }}&gt;&#13;&#10;                4&#13;&#10;            &lt;/Text&gt;&#13;&#10;            &lt;Text style={{ fontSize: 40, fontWeight: 'bold', color: '#1F2430', lineHeight: 1.2 }}&gt;&#13;&#10;                步走完全部流程&#13;&#10;            &lt;/Text&gt;&#13;&#10;        &lt;/Box&gt;&#13;&#10;&#13;&#10;        {/* 右：四步 + 洞察 */}&#13;&#10;        &lt;Box style={{ flex: 1, flexDirection: 'column', gap: 18 }}&gt;&#13;&#10;&#13;&#10;            {/* 四个步骤条 */}&#13;&#10;            &lt;Box style={{ flexDirection: 'column', gap: 12 }}&gt;&#13;&#10;                &lt;Box style={{&#13;&#10;                    background: '#FFFFFF', borderRadius: 12, padding: '17px 26px',&#13;&#10;                    flexDirection: 'row', alignItems: 'center', gap: 20,&#13;&#10;                    borderLeft: '4px solid #E8478B',&#13;&#10;                    boxShadow: '0 2px 12px rgba(31,36,48,0.06)',&#13;&#10;                }}&gt;&#13;&#10;                    &lt;Text style={{ fontSize: 30, fontWeight: 'bold', color: '#E8478B', width: 46 }}&gt;1&lt;/Text&gt;&#13;&#10;                    &lt;Text style={{ fontSize: 25, fontWeight: 'bold', color: '#1F2430', width: 168 }}&gt;导入截图&lt;/Text&gt;&#13;&#10;                    &lt;Text style={{ fontSize: 19, color: '#5A6376' }}&gt;把游戏里截的卡面列表图丢进来&lt;/Text&gt;&#13;&#10;                &lt;/Box&gt;&#13;&#10;&#13;&#10;                &lt;Box style={{&#13;&#10;                    background: '#FFFFFF', borderRadius: 12, padding: '17px 26px',&#13;&#10;                    flexDirection: 'row', alignItems: 'center', gap: 20,&#13;&#10;                    borderLeft: '4px solid #E8478B',&#13;&#10;                    boxShadow: '0 2px 12px rgba(31,36,48,0.06)',&#13;&#10;                }}&gt;&#13;&#10;                    &lt;Text style={{ fontSize: 30, fontWeight: 'bold', color: '#E8478B', width: 46 }}&gt;2&lt;/Text&gt;&#13;&#10;                    &lt;Text style={{ fontSize: 25, fontWeight: 'bold', color: '#1F2430', width: 168 }}&gt;核对修正&lt;/Text&gt;&#13;&#10;                    &lt;Text style={{ fontSize: 19, color: '#5A6376' }}&gt;扫一眼对照图，认错的手动改过来&lt;/Text&gt;&#13;&#10;                &lt;/Box&gt;&#13;&#10;&#13;&#10;                &lt;Box style={{&#13;&#10;                    background: '#FFFFFF', borderRadius: 12, padding: '17px 26px',&#13;&#10;                    flexDirection: 'row', alignItems: 'center', gap: 20,&#13;&#10;                    borderLeft: '4px solid #E8478B',&#13;&#10;                    boxShadow: '0 2px 12px rgba(31,36,48,0.06)',&#13;&#10;                }}&gt;&#13;&#10;                    &lt;Text style={{ fontSize: 30, fontWeight: 'bold', color: '#E8478B', width: 46 }}&gt;3&lt;/Text&gt;&#13;&#10;                    &lt;Text style={{ fontSize: 25, fontWeight: 'bold', color: '#1F2430', width: 168 }}&gt;卡面清单&lt;/Text&gt;&#13;&#10;                    &lt;Text style={{ fontSize: 19, color: '#5A6376' }}&gt;自动汇总统计，确认后就是你的卡册&lt;/Text&gt;&#13;&#10;                &lt;/Box&gt;&#13;&#10;&#13;&#10;                &lt;Box style={{&#13;&#10;                    background: '#FFFFFF', borderRadius: 12, padding: '17px 26px',&#13;&#10;                    flexDirection: 'row', alignItems: 'center', gap: 20,&#13;&#10;                    borderLeft: '4px solid #E8478B',&#13;&#10;                    boxShadow: '0 2px 12px rgba(31,36,48,0.06)',&#13;&#10;                }}&gt;&#13;&#10;                    &lt;Text style={{ fontSize: 30, fontWeight: 'bold', color: '#E8478B', width: 46 }}&gt;4&lt;/Text&gt;&#13;&#10;                    &lt;Text style={{ fontSize: 25, fontWeight: 'bold', color: '#1F2430', width: 168 }}&gt;导出 / 同步&lt;/Text&gt;&#13;&#10;                    &lt;Text style={{ fontSize: 19, color: '#5A6376' }}&gt;存成文件，或者直接写进 Bestdori&lt;/Text&gt;&#13;&#10;                &lt;/Box&gt;&#13;&#10;            &lt;/Box&gt;&#13;&#10;&#13;&#10;            {/* 洞察 */}&#13;&#10;            &lt;Box style={{&#13;&#10;                background: '#1F2430', borderRadius: 12, padding: '16px 26px',&#13;&#10;                flexDirection: 'row', alignItems: 'center', gap: 14,&#13;&#10;            }}&gt;&#13;&#10;                &lt;Box style={{ width: 5, height: 32, background: '#E8478B', borderRadius: 3 }} /&gt;&#13;&#10;                &lt;Text style={{ fontSize: 20, color: '#FFFFFF', lineHeight: 1.5 }}&gt;&#13;&#10;                    后面四页一步一步讲 —— 每一步你真正要做的，通常不超过两次点击&#13;&#10;                &lt;/Text&gt;&#13;&#10;            &lt;/Box&gt;&#13;&#10;&#13;&#10;        &lt;/Box&gt;&#13;&#10;    &lt;/Box&gt;&#13;&#10;&#13;&#10;    {/* ===== C · 页脚条 ===== */}&#13;&#10;    &lt;Box style={{ height: 60, flexDirection: 'row', alignItems: 'center', justifyContent: 'space-between' }}&gt;&#13;&#10;        &lt;Text style={{ fontSize: 15, color: '#8A93A6' }}&gt;BestdoriHelper 使用说明&lt;/Text&gt;&#13;&#10;        &lt;Text style={{ fontSize: 15, color: '#8A93A6' }}&gt;05 / 15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6858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9535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四步走完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85800" y="2038350"/>
            <a:ext cx="1362075" cy="252412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18000" b="1" spc="-450">
                <a:solidFill>
                  <a:srgbClr val="E847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85800" y="4657725"/>
            <a:ext cx="2667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2430"/>
                </a:solidFill>
                <a:latin typeface="Microsoft YaHei"/>
                <a:ea typeface="Microsoft YaHei"/>
              </a:rPr>
              <a:t>步走完全部流程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4248150" y="1704975"/>
            <a:ext cx="72961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4248150" y="1704975"/>
            <a:ext cx="7296150" cy="666750"/>
          </a:xfrm>
          <a:custGeom>
            <a:pathLst>
              <a:path w="766" h="7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2"/>
                </a:lnTo>
                <a:cubicBezTo>
                  <a:pt x="4" y="66"/>
                  <a:pt x="7" y="69"/>
                  <a:pt x="10" y="70"/>
                </a:cubicBezTo>
                <a:cubicBezTo>
                  <a:pt x="4" y="69"/>
                  <a:pt x="0" y="64"/>
                  <a:pt x="0" y="5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495800" y="186690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8478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124450" y="1895475"/>
            <a:ext cx="16002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F2430"/>
                </a:solidFill>
                <a:latin typeface="Microsoft YaHei"/>
                <a:ea typeface="Microsoft YaHei"/>
              </a:rPr>
              <a:t>导入截图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915150" y="1933575"/>
            <a:ext cx="2533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5A6376"/>
                </a:solidFill>
                <a:latin typeface="Microsoft YaHei"/>
                <a:ea typeface="Microsoft YaHei"/>
              </a:rPr>
              <a:t>把游戏里截的卡面列表图丢进来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4248150" y="2486025"/>
            <a:ext cx="72961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4248150" y="2486025"/>
            <a:ext cx="7296150" cy="666750"/>
          </a:xfrm>
          <a:custGeom>
            <a:pathLst>
              <a:path w="766" h="7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2"/>
                </a:lnTo>
                <a:cubicBezTo>
                  <a:pt x="4" y="66"/>
                  <a:pt x="7" y="69"/>
                  <a:pt x="10" y="70"/>
                </a:cubicBezTo>
                <a:cubicBezTo>
                  <a:pt x="4" y="69"/>
                  <a:pt x="0" y="64"/>
                  <a:pt x="0" y="5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495800" y="264795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8478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124450" y="2676525"/>
            <a:ext cx="16002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F2430"/>
                </a:solidFill>
                <a:latin typeface="Microsoft YaHei"/>
                <a:ea typeface="Microsoft YaHei"/>
              </a:rPr>
              <a:t>核对修正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915150" y="2714625"/>
            <a:ext cx="2714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5A6376"/>
                </a:solidFill>
                <a:latin typeface="Microsoft YaHei"/>
                <a:ea typeface="Microsoft YaHei"/>
              </a:rPr>
              <a:t>扫一眼对照图，认错的手动改过来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4248150" y="3267075"/>
            <a:ext cx="72961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4248150" y="3267075"/>
            <a:ext cx="7296150" cy="666750"/>
          </a:xfrm>
          <a:custGeom>
            <a:pathLst>
              <a:path w="766" h="7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2"/>
                </a:lnTo>
                <a:cubicBezTo>
                  <a:pt x="4" y="66"/>
                  <a:pt x="7" y="69"/>
                  <a:pt x="10" y="70"/>
                </a:cubicBezTo>
                <a:cubicBezTo>
                  <a:pt x="4" y="69"/>
                  <a:pt x="0" y="64"/>
                  <a:pt x="0" y="5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495800" y="342900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8478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124450" y="3457575"/>
            <a:ext cx="16002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F2430"/>
                </a:solidFill>
                <a:latin typeface="Microsoft YaHei"/>
                <a:ea typeface="Microsoft YaHei"/>
              </a:rPr>
              <a:t>卡面清单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915150" y="3495675"/>
            <a:ext cx="289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5A6376"/>
                </a:solidFill>
                <a:latin typeface="Microsoft YaHei"/>
                <a:ea typeface="Microsoft YaHei"/>
              </a:rPr>
              <a:t>自动汇总统计，确认后就是你的卡册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248150" y="4048125"/>
            <a:ext cx="72961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4248150" y="4048125"/>
            <a:ext cx="7296150" cy="666750"/>
          </a:xfrm>
          <a:custGeom>
            <a:pathLst>
              <a:path w="766" h="7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2"/>
                </a:lnTo>
                <a:cubicBezTo>
                  <a:pt x="4" y="66"/>
                  <a:pt x="7" y="69"/>
                  <a:pt x="10" y="70"/>
                </a:cubicBezTo>
                <a:cubicBezTo>
                  <a:pt x="4" y="69"/>
                  <a:pt x="0" y="64"/>
                  <a:pt x="0" y="5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495800" y="421005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847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124450" y="4238625"/>
            <a:ext cx="16002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F2430"/>
                </a:solidFill>
                <a:latin typeface="Microsoft YaHei"/>
                <a:ea typeface="Microsoft YaHei"/>
              </a:rPr>
              <a:t>导出</a:t>
            </a:r>
            <a:r>
              <a:rPr lang="en-US" sz="1875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875" b="1">
                <a:solidFill>
                  <a:srgbClr val="1F2430"/>
                </a:solidFill>
                <a:latin typeface="Microsoft YaHei"/>
                <a:ea typeface="Microsoft YaHei"/>
              </a:rPr>
              <a:t>同步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915150" y="4276725"/>
            <a:ext cx="2762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5A6376"/>
                </a:solidFill>
                <a:latin typeface="Microsoft YaHei"/>
                <a:ea typeface="Microsoft YaHei"/>
              </a:rPr>
              <a:t>存成文件，或者直接写进</a:t>
            </a:r>
            <a:r>
              <a:rPr lang="en-US" sz="1425">
                <a:solidFill>
                  <a:srgbClr val="5A6376"/>
                </a:solidFill>
                <a:latin typeface="Microsoft YaHei"/>
                <a:ea typeface="Microsoft YaHei"/>
              </a:rPr>
              <a:t xml:space="preserve"> Bestdori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4210050" y="4886325"/>
            <a:ext cx="7296150" cy="647700"/>
          </a:xfrm>
          <a:prstGeom prst="roundRect">
            <a:avLst>
              <a:gd name="adj" fmla="val 17647"/>
            </a:avLst>
          </a:prstGeom>
          <a:solidFill>
            <a:srgbClr val="1F2430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4457700" y="5057775"/>
            <a:ext cx="47625" cy="304800"/>
          </a:xfrm>
          <a:prstGeom prst="roundRect">
            <a:avLst>
              <a:gd name="adj" fmla="val 6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638675" y="5038725"/>
            <a:ext cx="58674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后面四页一步一步讲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每一步你真正要做的，通常不超过两次点击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85800" y="62960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BestdoriHelper </a:t>
            </a: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020425" y="6296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38" name="" descr="&lt;Slide style={{ width: 1280, height: 720, padding: '20px 72px', background: '#F7F8FA', flexDirection: 'column' }}&gt;&#13;&#10;&#13;&#10;    {/* ===== A · 标题块 ===== */}&#13;&#10;    &lt;Box style={{ height: 100, flexDirection: 'row', alignItems: 'center', gap: 16 }}&gt;&#13;&#10;        &lt;Box style={{ width: 6, height: 38, background: '#E8478B', borderRadius: 3 }} /&gt;&#13;&#10;        &lt;Text style={{ fontSize: 36, fontWeight: 'bold', color: '#1F2430' }}&gt;&#13;&#10;            第一步 · 导入截图&#13;&#10;        &lt;/Text&gt;&#13;&#10;    &lt;/Box&gt;&#13;&#10;&#13;&#10;    {/* ===== B · 内容区（左大图 58% + 右文字）===== */}&#13;&#10;    &lt;Box style={{ flex: 1, flexDirection: 'row', gap: 32, alignItems: 'center' }}&gt;&#13;&#10;&#13;&#10;        {/* 左：界面截图（比例 = 截图原 2.41:1） */}&#13;&#10;        &lt;Box style={{&#13;&#10;            width: 600, height: 250, borderRadius: 12, overflow: 'hidden',&#13;&#10;            background: '#1F2430', border: '1px solid #2E3442',&#13;&#10;            boxShadow: '0 6px 24px rgba(31,36,48,0.18)',&#13;&#10;        }}&gt;&#13;&#10;            &lt;Image src=&quot;assets/step1_import.png&quot; style={{ width: '100%', height: '100%', objectFit: 'contain' }} /&gt;&#13;&#10;        &lt;/Box&gt;&#13;&#10;&#13;&#10;        {/* 右：要点 */}&#13;&#10;        &lt;Box style={{ flex: 1, flexDirection: 'column', gap: 16 }}&gt;&#13;&#10;&#13;&#10;            &lt;Box style={{&#13;&#10;                background: '#FFFFFF', borderRadius: 12, padding: '16px 22px',&#13;&#10;                flexDirection: 'column', gap: 4, borderLeft: '4px solid #E8478B',&#13;&#10;                boxShadow: '0 2px 12px rgba(31,36,48,0.06)',&#13;&#10;            }}&gt;&#13;&#10;                &lt;Text style={{ fontSize: 21, fontWeight: 'bold', color: '#1F2430' }}&gt;拖进来，或者点一下选&lt;/Text&gt;&#13;&#10;                &lt;Text style={{ fontSize: 17, color: '#5A6376', lineHeight: 1.55 }}&gt;&#13;&#10;                    可以一次选多张，也能直接选整个文件夹。&lt;br /&gt;&#13;&#10;                    图片只在你本机处理，不会上传。&#13;&#10;                &lt;/Text&gt;&#13;&#10;            &lt;/Box&gt;&#13;&#10;&#13;&#10;            &lt;Box style={{&#13;&#10;                background: '#FFFFFF', borderRadius: 12, padding: '16px 22px',&#13;&#10;                flexDirection: 'column', gap: 4, borderLeft: '4px solid #D5DAE4',&#13;&#10;                boxShadow: '0 2px 12px rgba(31,36,48,0.06)',&#13;&#10;            }}&gt;&#13;&#10;                &lt;Text style={{ fontSize: 21, fontWeight: 'bold', color: '#1F2430' }}&gt;切分模式用「自动」&lt;/Text&gt;&#13;&#10;                &lt;Text style={{ fontSize: 17, color: '#5A6376', lineHeight: 1.55 }}&gt;&#13;&#10;                    它会自己数出行数和列数。切得不准时再改成&#13;&#10;                    &lt;br /&gt;&#13;&#10;                    「指定行列」，手动填行、列。&#13;&#10;                &lt;/Text&gt;&#13;&#10;            &lt;/Box&gt;&#13;&#10;&#13;&#10;            &lt;Box style={{&#13;&#10;                background: 'rgba(232,71,139,0.07)', borderRadius: 12, padding: '16px 22px',&#13;&#10;                flexDirection: 'column', gap: 4, borderLeft: '4px solid #E8478B',&#13;&#10;            }}&gt;&#13;&#10;                &lt;Text style={{ fontSize: 21, fontWeight: 'bold', color: '#1F2430' }}&gt;别忘了「卡框贴合」&lt;/Text&gt;&#13;&#10;                &lt;Text style={{ fontSize: 17, color: '#5A6376', lineHeight: 1.55 }}&gt;&#13;&#10;                    默认开着。它让每一格收紧到真正的卡框上，&#13;&#10;                    &lt;br /&gt;&#13;&#10;                    不会把旁边卡面的边切进来 —— 直接决定准不准。&#13;&#10;                &lt;/Text&gt;&#13;&#10;            &lt;/Box&gt;&#13;&#10;&#13;&#10;        &lt;/Box&gt;&#13;&#10;    &lt;/Box&gt;&#13;&#10;&#13;&#10;    {/* ===== C · 页脚条 ===== */}&#13;&#10;    &lt;Box style={{ height: 60, flexDirection: 'row', alignItems: 'center', justifyContent: 'space-between' }}&gt;&#13;&#10;        &lt;Text style={{ fontSize: 15, color: '#8A93A6' }}&gt;BestdoriHelper 使用说明&lt;/Text&gt;&#13;&#10;        &lt;Text style={{ fontSize: 15, color: '#8A93A6' }}&gt;06 / 15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858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95350" y="457200"/>
            <a:ext cx="27622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第一步</a:t>
            </a:r>
            <a:r>
              <a:rPr lang="en-US" sz="2700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导入截图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85800" y="2428875"/>
            <a:ext cx="5715000" cy="2381250"/>
          </a:xfrm>
          <a:prstGeom prst="roundRect">
            <a:avLst>
              <a:gd name="adj" fmla="val 4800"/>
            </a:avLst>
          </a:prstGeom>
          <a:solidFill>
            <a:srgbClr val="1F2430"/>
          </a:solidFill>
          <a:ln w="12700">
            <a:solidFill>
              <a:srgbClr val="2E3442"/>
            </a:solidFill>
            <a:prstDash val="solid"/>
          </a:ln>
          <a:effectLst>
            <a:outerShdw blurRad="228600" dist="57150" dir="5400000">
              <a:srgbClr val="1F243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43" name=""/>
          <p:cNvPicPr>
            <a:picLocks noChangeAspect="1"/>
          </p:cNvPicPr>
          <p:nvPr/>
        </p:nvPicPr>
        <p:blipFill>
          <a:blip r:embed="rId1"/>
          <a:srcRect l="8430" t="0" r="8430" b="0"/>
          <a:stretch>
            <a:fillRect/>
          </a:stretch>
        </p:blipFill>
        <p:spPr>
          <a:xfrm rot="0" flipH="0" flipV="0">
            <a:off x="685800" y="2428875"/>
            <a:ext cx="5715000" cy="2381250"/>
          </a:xfrm>
          <a:custGeom>
            <a:pathLst>
              <a:path w="600" h="250">
                <a:moveTo>
                  <a:pt x="588" y="0"/>
                </a:moveTo>
                <a:cubicBezTo>
                  <a:pt x="595" y="0"/>
                  <a:pt x="600" y="5"/>
                  <a:pt x="600" y="12"/>
                </a:cubicBezTo>
                <a:lnTo>
                  <a:pt x="600" y="238"/>
                </a:lnTo>
                <a:cubicBezTo>
                  <a:pt x="600" y="245"/>
                  <a:pt x="595" y="250"/>
                  <a:pt x="588" y="250"/>
                </a:cubicBezTo>
                <a:lnTo>
                  <a:pt x="12" y="250"/>
                </a:lnTo>
                <a:cubicBezTo>
                  <a:pt x="5" y="250"/>
                  <a:pt x="0" y="245"/>
                  <a:pt x="0" y="23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588" y="0"/>
                </a:lnTo>
                <a:close/>
              </a:path>
            </a:pathLst>
          </a:custGeom>
          <a:ln/>
        </p:spPr>
      </p:pic>
      <p:sp>
        <p:nvSpPr>
          <p:cNvPr id="244" name=""/>
          <p:cNvSpPr/>
          <p:nvPr/>
        </p:nvSpPr>
        <p:spPr>
          <a:xfrm rot="0" flipH="0" flipV="0">
            <a:off x="6743700" y="1666875"/>
            <a:ext cx="48006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6743700" y="1666875"/>
            <a:ext cx="4800600" cy="1200150"/>
          </a:xfrm>
          <a:custGeom>
            <a:pathLst>
              <a:path w="504" h="12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8"/>
                </a:lnTo>
                <a:cubicBezTo>
                  <a:pt x="4" y="122"/>
                  <a:pt x="7" y="125"/>
                  <a:pt x="10" y="126"/>
                </a:cubicBezTo>
                <a:cubicBezTo>
                  <a:pt x="4" y="125"/>
                  <a:pt x="0" y="120"/>
                  <a:pt x="0" y="11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953250" y="1819275"/>
            <a:ext cx="4343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430"/>
                </a:solidFill>
                <a:latin typeface="Microsoft YaHei"/>
                <a:ea typeface="Microsoft YaHei"/>
              </a:rPr>
              <a:t>拖进来，或者点一下选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953250" y="2105025"/>
            <a:ext cx="4343400" cy="609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5A6376"/>
                </a:solidFill>
                <a:latin typeface="Microsoft YaHei"/>
                <a:ea typeface="Microsoft YaHei"/>
              </a:rPr>
              <a:t>可以一次选多张，也能直接选整个文件夹。</a:t>
            </a:r>
            <a:endParaRPr/>
          </a:p>
          <a:p>
            <a:pPr>
              <a:lnSpc>
                <a:spcPct val="155000"/>
              </a:lnSpc>
            </a:pPr>
            <a:r>
              <a:rPr lang="zh-CN" sz="1275">
                <a:solidFill>
                  <a:srgbClr val="5A6376"/>
                </a:solidFill>
                <a:latin typeface="Microsoft YaHei"/>
                <a:ea typeface="Microsoft YaHei"/>
              </a:rPr>
              <a:t>图片只在你本机处理，不会上传。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743700" y="3019425"/>
            <a:ext cx="48006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6743700" y="3019425"/>
            <a:ext cx="4800600" cy="1200150"/>
          </a:xfrm>
          <a:custGeom>
            <a:pathLst>
              <a:path w="504" h="12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8"/>
                </a:lnTo>
                <a:cubicBezTo>
                  <a:pt x="4" y="122"/>
                  <a:pt x="7" y="125"/>
                  <a:pt x="10" y="126"/>
                </a:cubicBezTo>
                <a:cubicBezTo>
                  <a:pt x="4" y="125"/>
                  <a:pt x="0" y="120"/>
                  <a:pt x="0" y="11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5DAE4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953250" y="3171825"/>
            <a:ext cx="4343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430"/>
                </a:solidFill>
                <a:latin typeface="Microsoft YaHei"/>
                <a:ea typeface="Microsoft YaHei"/>
              </a:rPr>
              <a:t>切分模式用「自动」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953250" y="3457575"/>
            <a:ext cx="4343400" cy="609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5A6376"/>
                </a:solidFill>
                <a:latin typeface="Microsoft YaHei"/>
                <a:ea typeface="Microsoft YaHei"/>
              </a:rPr>
              <a:t>它会自己数出行数和列数。切得不准时再改成</a:t>
            </a:r>
            <a:endParaRPr/>
          </a:p>
          <a:p>
            <a:pPr>
              <a:lnSpc>
                <a:spcPct val="155000"/>
              </a:lnSpc>
            </a:pPr>
            <a:r>
              <a:rPr lang="zh-CN" sz="1275">
                <a:solidFill>
                  <a:srgbClr val="5A6376"/>
                </a:solidFill>
                <a:latin typeface="Microsoft YaHei"/>
                <a:ea typeface="Microsoft YaHei"/>
              </a:rPr>
              <a:t>「指定行列」，手动填行、列。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743700" y="4371975"/>
            <a:ext cx="4800600" cy="1200150"/>
          </a:xfrm>
          <a:prstGeom prst="roundRect">
            <a:avLst>
              <a:gd name="adj" fmla="val 9524"/>
            </a:avLst>
          </a:prstGeom>
          <a:solidFill>
            <a:srgbClr val="E8478B">
              <a:alpha val="7000"/>
            </a:srgbClr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743700" y="4371975"/>
            <a:ext cx="4800600" cy="1200150"/>
          </a:xfrm>
          <a:custGeom>
            <a:pathLst>
              <a:path w="504" h="12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8"/>
                </a:lnTo>
                <a:cubicBezTo>
                  <a:pt x="4" y="122"/>
                  <a:pt x="7" y="125"/>
                  <a:pt x="10" y="126"/>
                </a:cubicBezTo>
                <a:cubicBezTo>
                  <a:pt x="4" y="125"/>
                  <a:pt x="0" y="120"/>
                  <a:pt x="0" y="11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953250" y="4524375"/>
            <a:ext cx="4343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430"/>
                </a:solidFill>
                <a:latin typeface="Microsoft YaHei"/>
                <a:ea typeface="Microsoft YaHei"/>
              </a:rPr>
              <a:t>别忘了「卡框贴合」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953250" y="4810125"/>
            <a:ext cx="4343400" cy="609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5A6376"/>
                </a:solidFill>
                <a:latin typeface="Microsoft YaHei"/>
                <a:ea typeface="Microsoft YaHei"/>
              </a:rPr>
              <a:t>默认开着。它让每一格收紧到真正的卡框上，</a:t>
            </a:r>
            <a:endParaRPr/>
          </a:p>
          <a:p>
            <a:pPr>
              <a:lnSpc>
                <a:spcPct val="155000"/>
              </a:lnSpc>
            </a:pPr>
            <a:r>
              <a:rPr lang="zh-CN" sz="1275">
                <a:solidFill>
                  <a:srgbClr val="5A6376"/>
                </a:solidFill>
                <a:latin typeface="Microsoft YaHei"/>
                <a:ea typeface="Microsoft YaHei"/>
              </a:rPr>
              <a:t>不会把旁边卡面的边切进来</a:t>
            </a:r>
            <a:r>
              <a:rPr lang="en-US" sz="1275">
                <a:solidFill>
                  <a:srgbClr val="5A6376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5A6376"/>
                </a:solidFill>
                <a:latin typeface="Microsoft YaHei"/>
                <a:ea typeface="Microsoft YaHei"/>
              </a:rPr>
              <a:t>直接决定准不准。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85800" y="62960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BestdoriHelper </a:t>
            </a: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020425" y="6296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58" name="" descr="&lt;Slide style={{ width: 1280, height: 720, padding: '20px 72px', background: '#F7F8FA', flexDirection: 'column' }}&gt;&#13;&#10;&#13;&#10;    {/* ===== A · 标题块 ===== */}&#13;&#10;    &lt;Box style={{ height: 100, flexDirection: 'row', alignItems: 'center', gap: 16 }}&gt;&#13;&#10;        &lt;Box style={{ width: 6, height: 38, background: '#E8478B', borderRadius: 3 }} /&gt;&#13;&#10;        &lt;Text style={{ fontSize: 36, fontWeight: 'bold', color: '#1F2430' }}&gt;&#13;&#10;            第二步 · 核对与修正&#13;&#10;        &lt;/Text&gt;&#13;&#10;        &lt;Text style={{ fontSize: 19, color: '#8A93A6' }}&gt;这步决定最终准不准&lt;/Text&gt;&#13;&#10;    &lt;/Box&gt;&#13;&#10;&#13;&#10;    {/* ===== B · 内容区（上大图 60% + 下方卡片）===== */}&#13;&#10;    &lt;Box style={{ flex: 1, flexDirection: 'column', gap: 14 }}&gt;&#13;&#10;&#13;&#10;        {/* 上：对照截图（0.98:1 ≈ 正方形，居中） */}&#13;&#10;        &lt;Box style={{&#13;&#10;            width: 400, height: 400, alignSelf: 'center',&#13;&#10;            borderRadius: 12, overflow: 'hidden',&#13;&#10;            background: '#1F2430', border: '1px solid #2E3442',&#13;&#10;            boxShadow: '0 6px 24px rgba(31,36,48,0.18)',&#13;&#10;        }}&gt;&#13;&#10;            &lt;Image src=&quot;assets/step2_compare.png&quot; style={{ width: '100%', height: '100%', objectFit: 'contain' }} /&gt;&#13;&#10;        &lt;/Box&gt;&#13;&#10;&#13;&#10;        {/* 下：三张操作卡 */}&#13;&#10;        &lt;Box style={{ flex: 1, flexDirection: 'row', gap: 14 }}&gt;&#13;&#10;&#13;&#10;            &lt;Box style={{&#13;&#10;                flex: 1, background: '#FFFFFF', borderRadius: 12, padding: '16px 20px',&#13;&#10;                flexDirection: 'column', gap: 6, borderLeft: '4px solid #E8478B',&#13;&#10;                boxShadow: '0 2px 12px rgba(31,36,48,0.06)',&#13;&#10;            }}&gt;&#13;&#10;                &lt;Text style={{ fontSize: 20, fontWeight: 'bold', color: '#1F2430' }}&gt;左右并排，一眼看对不对&lt;/Text&gt;&#13;&#10;                &lt;Text style={{ fontSize: 16, color: '#5A6376', lineHeight: 1.55 }}&gt;&#13;&#10;                    每行左边是截图里那一格，右边是匹配到的卡图。两张长得不一样就是认错了。&#13;&#10;                &lt;/Text&gt;&#13;&#10;            &lt;/Box&gt;&#13;&#10;&#13;&#10;            &lt;Box style={{&#13;&#10;                flex: 1, background: '#FFFFFF', borderRadius: 12, padding: '16px 20px',&#13;&#10;                flexDirection: 'column', gap: 6, borderLeft: '4px solid #D5DAE4',&#13;&#10;                boxShadow: '0 2px 12px rgba(31,36,48,0.06)',&#13;&#10;            }}&gt;&#13;&#10;                &lt;Text style={{ fontSize: 20, fontWeight: 'bold', color: '#1F2430' }}&gt;都不是？搜卡面或输卡号&lt;/Text&gt;&#13;&#10;                &lt;Text style={{ fontSize: 16, color: '#5A6376', lineHeight: 1.55 }}&gt;&#13;&#10;                    点候选卡片直接换；三张都不是，搜全卡池或直接输卡号。&#13;&#10;                &lt;/Text&gt;&#13;&#10;            &lt;/Box&gt;&#13;&#10;&#13;&#10;            &lt;Box style={{&#13;&#10;                flex: 1, background: '#FFFFFF', borderRadius: 12, padding: '16px 20px',&#13;&#10;                flexDirection: 'column', gap: 6, borderLeft: '4px solid #D5DAE4',&#13;&#10;                boxShadow: '0 2px 12px rgba(31,36,48,0.06)',&#13;&#10;            }}&gt;&#13;&#10;                &lt;Text style={{ fontSize: 20, fontWeight: 'bold', color: '#1F2430' }}&gt;拿不准就忽略这一格&lt;/Text&gt;&#13;&#10;                &lt;Text style={{ fontSize: 16, color: '#5A6376', lineHeight: 1.55 }}&gt;&#13;&#10;                    点缩略图能看大图。确实认不出来的格子直接忽略，不会污染清单。&#13;&#10;                &lt;/Text&gt;&#13;&#10;            &lt;/Box&gt;&#13;&#10;&#13;&#10;        &lt;/Box&gt;&#13;&#10;    &lt;/Box&gt;&#13;&#10;&#13;&#10;    {/* ===== C · 页脚条 ===== */}&#13;&#10;    &lt;Box style={{ height: 60, flexDirection: 'row', alignItems: 'center', justifyContent: 'space-between' }}&gt;&#13;&#10;        &lt;Text style={{ fontSize: 15, color: '#8A93A6' }}&gt;BestdoriHelper 使用说明&lt;/Text&gt;&#13;&#10;        &lt;Text style={{ fontSize: 15, color: '#8A93A6' }}&gt;07 / 15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6858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95350" y="457200"/>
            <a:ext cx="31051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第二步</a:t>
            </a:r>
            <a:r>
              <a:rPr lang="en-US" sz="2700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核对与修正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152900" y="561975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A93A6"/>
                </a:solidFill>
                <a:latin typeface="Microsoft YaHei"/>
                <a:ea typeface="Microsoft YaHei"/>
              </a:rPr>
              <a:t>这步决定最终准不准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4191000" y="1143000"/>
            <a:ext cx="3810000" cy="3810000"/>
          </a:xfrm>
          <a:prstGeom prst="roundRect">
            <a:avLst>
              <a:gd name="adj" fmla="val 3000"/>
            </a:avLst>
          </a:prstGeom>
          <a:solidFill>
            <a:srgbClr val="1F2430"/>
          </a:solidFill>
          <a:ln w="12700">
            <a:solidFill>
              <a:srgbClr val="2E3442"/>
            </a:solidFill>
            <a:prstDash val="solid"/>
          </a:ln>
          <a:effectLst>
            <a:outerShdw blurRad="228600" dist="57150" dir="5400000">
              <a:srgbClr val="1F243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64" name=""/>
          <p:cNvPicPr>
            <a:picLocks noChangeAspect="1"/>
          </p:cNvPicPr>
          <p:nvPr/>
        </p:nvPicPr>
        <p:blipFill>
          <a:blip r:embed="rId1"/>
          <a:srcRect l="0" t="1086" r="0" b="1086"/>
          <a:stretch>
            <a:fillRect/>
          </a:stretch>
        </p:blipFill>
        <p:spPr>
          <a:xfrm rot="0" flipH="0" flipV="0">
            <a:off x="4191000" y="1143000"/>
            <a:ext cx="3810000" cy="3810000"/>
          </a:xfrm>
          <a:custGeom>
            <a:pathLst>
              <a:path w="400" h="400">
                <a:moveTo>
                  <a:pt x="388" y="0"/>
                </a:moveTo>
                <a:cubicBezTo>
                  <a:pt x="395" y="0"/>
                  <a:pt x="400" y="5"/>
                  <a:pt x="400" y="12"/>
                </a:cubicBezTo>
                <a:lnTo>
                  <a:pt x="400" y="388"/>
                </a:lnTo>
                <a:cubicBezTo>
                  <a:pt x="400" y="395"/>
                  <a:pt x="395" y="400"/>
                  <a:pt x="388" y="400"/>
                </a:cubicBezTo>
                <a:lnTo>
                  <a:pt x="12" y="400"/>
                </a:lnTo>
                <a:cubicBezTo>
                  <a:pt x="5" y="400"/>
                  <a:pt x="0" y="395"/>
                  <a:pt x="0" y="38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388" y="0"/>
                </a:lnTo>
                <a:close/>
              </a:path>
            </a:pathLst>
          </a:custGeom>
          <a:ln/>
        </p:spPr>
      </p:pic>
      <p:sp>
        <p:nvSpPr>
          <p:cNvPr id="265" name=""/>
          <p:cNvSpPr/>
          <p:nvPr/>
        </p:nvSpPr>
        <p:spPr>
          <a:xfrm rot="0" flipH="0" flipV="0">
            <a:off x="723900" y="5086350"/>
            <a:ext cx="3514725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723900" y="5086350"/>
            <a:ext cx="3514725" cy="1162050"/>
          </a:xfrm>
          <a:custGeom>
            <a:pathLst>
              <a:path w="369" h="12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4"/>
                </a:lnTo>
                <a:cubicBezTo>
                  <a:pt x="4" y="118"/>
                  <a:pt x="7" y="121"/>
                  <a:pt x="10" y="122"/>
                </a:cubicBezTo>
                <a:cubicBezTo>
                  <a:pt x="4" y="121"/>
                  <a:pt x="0" y="116"/>
                  <a:pt x="0" y="11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14400" y="5238750"/>
            <a:ext cx="3095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430"/>
                </a:solidFill>
                <a:latin typeface="Microsoft YaHei"/>
                <a:ea typeface="Microsoft YaHei"/>
              </a:rPr>
              <a:t>左右并排，一眼看对不对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14400" y="5524500"/>
            <a:ext cx="3095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每行左边是截图里那一格，右边是匹配到的卡图。两张长得不一样就是认错了。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4371975" y="5086350"/>
            <a:ext cx="352425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4371975" y="5086350"/>
            <a:ext cx="3524250" cy="1162050"/>
          </a:xfrm>
          <a:custGeom>
            <a:pathLst>
              <a:path w="370" h="12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4"/>
                </a:lnTo>
                <a:cubicBezTo>
                  <a:pt x="4" y="118"/>
                  <a:pt x="7" y="121"/>
                  <a:pt x="10" y="122"/>
                </a:cubicBezTo>
                <a:cubicBezTo>
                  <a:pt x="4" y="121"/>
                  <a:pt x="0" y="116"/>
                  <a:pt x="0" y="11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5DAE4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562475" y="5238750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430"/>
                </a:solidFill>
                <a:latin typeface="Microsoft YaHei"/>
                <a:ea typeface="Microsoft YaHei"/>
              </a:rPr>
              <a:t>都不是？搜卡面或输卡号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562475" y="5524500"/>
            <a:ext cx="3105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点候选卡片直接换；三张都不是，搜全卡池或直接输卡号。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8029575" y="5086350"/>
            <a:ext cx="3514725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8029575" y="5086350"/>
            <a:ext cx="3514725" cy="1162050"/>
          </a:xfrm>
          <a:custGeom>
            <a:pathLst>
              <a:path w="369" h="12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4"/>
                </a:lnTo>
                <a:cubicBezTo>
                  <a:pt x="4" y="118"/>
                  <a:pt x="7" y="121"/>
                  <a:pt x="10" y="122"/>
                </a:cubicBezTo>
                <a:cubicBezTo>
                  <a:pt x="4" y="121"/>
                  <a:pt x="0" y="116"/>
                  <a:pt x="0" y="11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5DAE4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220075" y="5238750"/>
            <a:ext cx="3095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430"/>
                </a:solidFill>
                <a:latin typeface="Microsoft YaHei"/>
                <a:ea typeface="Microsoft YaHei"/>
              </a:rPr>
              <a:t>拿不准就忽略这一格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220075" y="5524500"/>
            <a:ext cx="3095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点缩略图能看大图。确实认不出来的格子直接忽略，不会污染清单。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BestdoriHelper </a:t>
            </a: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1020425" y="64484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79" name="" descr="&lt;Slide style={{ width: 1280, height: 720, padding: '20px 72px', background: '#F7F8FA', flexDirection: 'column' }}&gt;&#13;&#10;&#13;&#10;    {/* ===== A · 标题块 ===== */}&#13;&#10;    &lt;Box style={{ height: 100, flexDirection: 'row', alignItems: 'center', gap: 16 }}&gt;&#13;&#10;        &lt;Box style={{ width: 6, height: 38, background: '#E8478B', borderRadius: 3 }} /&gt;&#13;&#10;        &lt;Text style={{ fontSize: 36, fontWeight: 'bold', color: '#1F2430' }}&gt;&#13;&#10;            第三步 · 卡面清单&#13;&#10;        &lt;/Text&gt;&#13;&#10;    &lt;/Box&gt;&#13;&#10;&#13;&#10;    {/* ===== B · 内容区（左标题栏 32% + 右内容）===== */}&#13;&#10;    &lt;Box style={{ flex: 1, flexDirection: 'row' }}&gt;&#13;&#10;&#13;&#10;        {/* 左：深色标题栏 */}&#13;&#10;        &lt;Box style={{&#13;&#10;            width: 360, background: 'linear-gradient(135deg, #1F2430 0%, #2C3444 100%)',&#13;&#10;            borderRadius: '12px 0 0 12px', padding: '36px 32px',&#13;&#10;            flexDirection: 'column', justifyContent: 'space-between',&#13;&#10;        }}&gt;&#13;&#10;            &lt;Box style={{ flexDirection: 'column', gap: 14 }}&gt;&#13;&#10;                &lt;Text style={{ fontSize: 72, fontWeight: 'bold', color: '#E8478B', lineHeight: 1.0 }}&gt;3&lt;/Text&gt;&#13;&#10;                &lt;Text style={{ fontSize: 30, fontWeight: 'bold', color: '#FFFFFF', lineHeight: 1.25 }}&gt;&#13;&#10;                    清单就是&#13;&#10;                    &lt;br /&gt;&#13;&#10;                    你的卡册&#13;&#10;                &lt;/Text&gt;&#13;&#10;                &lt;Box style={{ width: 44, height: 4, background: '#E8478B', borderRadius: 2 }} /&gt;&#13;&#10;                &lt;Text style={{ fontSize: 18, color: '#8A93A6', lineHeight: 1.6 }}&gt;&#13;&#10;                    确认过的卡会自动汇总，&#13;&#10;                    &lt;br /&gt;&#13;&#10;                    下一步就能导出或同步&#13;&#10;                &lt;/Text&gt;&#13;&#10;            &lt;/Box&gt;&#13;&#10;            &lt;Text style={{ fontSize: 15, color: '#5A6376' }}&gt;网页版 / 手机 / 桌面 都有&lt;/Text&gt;&#13;&#10;        &lt;/Box&gt;&#13;&#10;&#13;&#10;        {/* 右：截图 + 要点 */}&#13;&#10;        &lt;Box style={{&#13;&#10;            flex: 1, background: '#FFFFFF', borderRadius: '0 12px 12px 0',&#13;&#10;            padding: '26px 30px', flexDirection: 'column', gap: 18,&#13;&#10;            boxShadow: '0 2px 12px rgba(31,36,48,0.06)',&#13;&#10;        }}&gt;&#13;&#10;&#13;&#10;            &lt;Box style={{&#13;&#10;                width: 740, height: 149, marginTop: -8,&#13;&#10;                borderRadius: 10, overflow: 'hidden',&#13;&#10;                background: '#1F2430', border: '1px solid #2E3442',&#13;&#10;            }}&gt;&#13;&#10;                &lt;Image src=&quot;assets/step3_inventory.png&quot; style={{ width: '100%', height: '100%', objectFit: 'contain' }} /&gt;&#13;&#10;            &lt;/Box&gt;&#13;&#10;&#13;&#10;            &lt;Box style={{ flex: 1, flexDirection: 'column', gap: 11 }}&gt;&#13;&#10;                &lt;Box style={{ flexDirection: 'row', gap: 12, alignItems: 'flex-start' }}&gt;&#13;&#10;                    &lt;Text style={{ fontSize: 17, color: '#E8478B', fontWeight: 'bold', width: 20 }}&gt;·&lt;/Text&gt;&#13;&#10;                    &lt;Text style={{ fontSize: 18, color: '#5A6376', lineHeight: 1.5 }}&gt;&#13;&#10;                        顶部自动统计：总数、特训后、4★5★、待确认&#13;&#10;                    &lt;/Text&gt;&#13;&#10;                &lt;/Box&gt;&#13;&#10;                &lt;Box style={{ flexDirection: 'row', gap: 12, alignItems: 'flex-start' }}&gt;&#13;&#10;                    &lt;Text style={{ fontSize: 17, color: '#E8478B', fontWeight: 'bold', width: 20 }}&gt;·&lt;/Text&gt;&#13;&#10;                    &lt;Text style={{ fontSize: 18, color: '#5A6376', lineHeight: 1.5 }}&gt;&#13;&#10;                        按卡名 / 角色搜索，也能一键筛出「待确认」&#13;&#10;                    &lt;/Text&gt;&#13;&#10;                &lt;/Box&gt;&#13;&#10;                &lt;Box style={{ flexDirection: 'row', gap: 12, alignItems: 'flex-start' }}&gt;&#13;&#10;                    &lt;Text style={{ fontSize: 17, color: '#E8478B', fontWeight: 'bold', width: 20 }}&gt;·&lt;/Text&gt;&#13;&#10;                    &lt;Text style={{ fontSize: 18, color: '#5A6376', lineHeight: 1.5 }}&gt;&#13;&#10;                        &lt;span style={{ color: '#1F2430', fontWeight: 'bold' }}&gt;拿不准的会被标成「待确认」&lt;/span&gt;&#13;&#10;                        —— 重点检查这些就行&#13;&#10;                    &lt;/Text&gt;&#13;&#10;                &lt;/Box&gt;&#13;&#10;            &lt;/Box&gt;&#13;&#10;&#13;&#10;        &lt;/Box&gt;&#13;&#10;    &lt;/Box&gt;&#13;&#10;&#13;&#10;    {/* ===== C · 页脚条 ===== */}&#13;&#10;    &lt;Box style={{ height: 60, flexDirection: 'row', alignItems: 'center', justifyContent: 'space-between' }}&gt;&#13;&#10;        &lt;Text style={{ fontSize: 15, color: '#8A93A6' }}&gt;BestdoriHelper 使用说明&lt;/Text&gt;&#13;&#10;        &lt;Text style={{ fontSize: 15, color: '#8A93A6' }}&gt;08 / 15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6858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95350" y="457200"/>
            <a:ext cx="27622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第三步</a:t>
            </a:r>
            <a:r>
              <a:rPr lang="en-US" sz="2700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卡面清单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85800" y="1143000"/>
            <a:ext cx="3429000" cy="4953000"/>
          </a:xfrm>
          <a:custGeom>
            <a:pathLst>
              <a:path w="360" h="520">
                <a:moveTo>
                  <a:pt x="12" y="0"/>
                </a:moveTo>
                <a:lnTo>
                  <a:pt x="360" y="0"/>
                </a:lnTo>
                <a:lnTo>
                  <a:pt x="360" y="0"/>
                </a:lnTo>
                <a:lnTo>
                  <a:pt x="360" y="520"/>
                </a:lnTo>
                <a:lnTo>
                  <a:pt x="360" y="520"/>
                </a:lnTo>
                <a:lnTo>
                  <a:pt x="12" y="520"/>
                </a:lnTo>
                <a:cubicBezTo>
                  <a:pt x="5" y="520"/>
                  <a:pt x="0" y="515"/>
                  <a:pt x="0" y="50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gradFill>
            <a:gsLst>
              <a:gs pos="0">
                <a:srgbClr val="1F2430"/>
              </a:gs>
              <a:gs pos="100000">
                <a:srgbClr val="2C344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990600" y="1485900"/>
            <a:ext cx="28194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E8478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990600" y="2447925"/>
            <a:ext cx="28194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清单就是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你的卡册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990600" y="343852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90600" y="3609975"/>
            <a:ext cx="281940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8A93A6"/>
                </a:solidFill>
                <a:latin typeface="Microsoft YaHei"/>
                <a:ea typeface="Microsoft YaHei"/>
              </a:rPr>
              <a:t>确认过的卡会自动汇总，</a:t>
            </a:r>
            <a:endParaRPr/>
          </a:p>
          <a:p>
            <a:pPr>
              <a:lnSpc>
                <a:spcPct val="160000"/>
              </a:lnSpc>
            </a:pPr>
            <a:r>
              <a:rPr lang="zh-CN" sz="1350">
                <a:solidFill>
                  <a:srgbClr val="8A93A6"/>
                </a:solidFill>
                <a:latin typeface="Microsoft YaHei"/>
                <a:ea typeface="Microsoft YaHei"/>
              </a:rPr>
              <a:t>下一步就能导出或同步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90600" y="5581650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376"/>
                </a:solidFill>
                <a:latin typeface="Microsoft YaHei"/>
                <a:ea typeface="Microsoft YaHei"/>
              </a:rPr>
              <a:t>网页版</a:t>
            </a:r>
            <a:r>
              <a:rPr lang="en-US" sz="1125">
                <a:solidFill>
                  <a:srgbClr val="5A637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5A6376"/>
                </a:solidFill>
                <a:latin typeface="Microsoft YaHei"/>
                <a:ea typeface="Microsoft YaHei"/>
              </a:rPr>
              <a:t>手机</a:t>
            </a:r>
            <a:r>
              <a:rPr lang="en-US" sz="1125">
                <a:solidFill>
                  <a:srgbClr val="5A637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5A6376"/>
                </a:solidFill>
                <a:latin typeface="Microsoft YaHei"/>
                <a:ea typeface="Microsoft YaHei"/>
              </a:rPr>
              <a:t>桌面</a:t>
            </a:r>
            <a:r>
              <a:rPr lang="en-US" sz="1125">
                <a:solidFill>
                  <a:srgbClr val="5A6376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376"/>
                </a:solidFill>
                <a:latin typeface="Microsoft YaHei"/>
                <a:ea typeface="Microsoft YaHei"/>
              </a:rPr>
              <a:t>都有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4114800" y="1143000"/>
            <a:ext cx="7391400" cy="4953000"/>
          </a:xfrm>
          <a:custGeom>
            <a:pathLst>
              <a:path w="776" h="520">
                <a:moveTo>
                  <a:pt x="0" y="0"/>
                </a:moveTo>
                <a:lnTo>
                  <a:pt x="764" y="0"/>
                </a:lnTo>
                <a:cubicBezTo>
                  <a:pt x="771" y="0"/>
                  <a:pt x="776" y="5"/>
                  <a:pt x="776" y="12"/>
                </a:cubicBezTo>
                <a:lnTo>
                  <a:pt x="776" y="508"/>
                </a:lnTo>
                <a:cubicBezTo>
                  <a:pt x="776" y="515"/>
                  <a:pt x="771" y="520"/>
                  <a:pt x="764" y="520"/>
                </a:cubicBezTo>
                <a:lnTo>
                  <a:pt x="0" y="520"/>
                </a:lnTo>
                <a:lnTo>
                  <a:pt x="0" y="52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4400550" y="1314450"/>
            <a:ext cx="7048500" cy="1419225"/>
          </a:xfrm>
          <a:prstGeom prst="roundRect">
            <a:avLst>
              <a:gd name="adj" fmla="val 6711"/>
            </a:avLst>
          </a:prstGeom>
          <a:solidFill>
            <a:srgbClr val="1F2430"/>
          </a:solidFill>
          <a:ln w="12700">
            <a:solidFill>
              <a:srgbClr val="2E3442"/>
            </a:solidFill>
            <a:prstDash val="solid"/>
          </a:ln>
        </p:spPr>
        <p:txBody>
          <a:bodyPr/>
          <a:p/>
        </p:txBody>
      </p:sp>
      <p:pic>
        <p:nvPicPr>
          <p:cNvPr id="291" name=""/>
          <p:cNvPicPr>
            <a:picLocks noChangeAspect="1"/>
          </p:cNvPicPr>
          <p:nvPr/>
        </p:nvPicPr>
        <p:blipFill>
          <a:blip r:embed="rId1"/>
          <a:srcRect l="79" t="0" r="79" b="0"/>
          <a:stretch>
            <a:fillRect/>
          </a:stretch>
        </p:blipFill>
        <p:spPr>
          <a:xfrm rot="0" flipH="0" flipV="0">
            <a:off x="4400550" y="1314450"/>
            <a:ext cx="7048500" cy="1419225"/>
          </a:xfrm>
          <a:custGeom>
            <a:pathLst>
              <a:path w="740" h="149">
                <a:moveTo>
                  <a:pt x="730" y="0"/>
                </a:moveTo>
                <a:cubicBezTo>
                  <a:pt x="736" y="0"/>
                  <a:pt x="740" y="5"/>
                  <a:pt x="740" y="10"/>
                </a:cubicBezTo>
                <a:lnTo>
                  <a:pt x="740" y="139"/>
                </a:lnTo>
                <a:cubicBezTo>
                  <a:pt x="740" y="145"/>
                  <a:pt x="736" y="149"/>
                  <a:pt x="730" y="149"/>
                </a:cubicBezTo>
                <a:lnTo>
                  <a:pt x="10" y="149"/>
                </a:lnTo>
                <a:cubicBezTo>
                  <a:pt x="4" y="149"/>
                  <a:pt x="0" y="145"/>
                  <a:pt x="0" y="139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730" y="0"/>
                </a:lnTo>
                <a:close/>
              </a:path>
            </a:pathLst>
          </a:custGeom>
          <a:ln/>
        </p:spPr>
      </p:pic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400550" y="2905125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E8478B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705350" y="2905125"/>
            <a:ext cx="35718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顶部自动统计：总数、特训后、</a:t>
            </a:r>
            <a:r>
              <a:rPr lang="en-US" sz="1350">
                <a:solidFill>
                  <a:srgbClr val="5A6376"/>
                </a:solidFill>
                <a:latin typeface="Microsoft YaHei"/>
                <a:ea typeface="Microsoft YaHei"/>
              </a:rPr>
              <a:t>4★5★</a:t>
            </a: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、待确认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400550" y="3324225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E8478B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705350" y="3324225"/>
            <a:ext cx="34385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按卡名</a:t>
            </a:r>
            <a:r>
              <a:rPr lang="en-US" sz="1350">
                <a:solidFill>
                  <a:srgbClr val="5A637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角色搜索，也能一键筛出「待确认」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400550" y="3743325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E8478B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705350" y="3743325"/>
            <a:ext cx="40290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F2430"/>
                </a:solidFill>
                <a:latin typeface="Microsoft YaHei"/>
                <a:ea typeface="Microsoft YaHei"/>
              </a:rPr>
              <a:t>拿不准的会被标成「待确认」</a:t>
            </a:r>
            <a:r>
              <a:rPr lang="en-US" sz="1350">
                <a:solidFill>
                  <a:srgbClr val="5A6376"/>
                </a:solidFill>
                <a:latin typeface="Microsoft YaHei"/>
                <a:ea typeface="Microsoft YaHei"/>
              </a:rPr>
              <a:t xml:space="preserve">—— </a:t>
            </a: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重点检查这些就行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85800" y="62960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BestdoriHelper </a:t>
            </a: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020425" y="6296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00" name="" descr="&lt;Slide style={{ width: 1280, height: 720, padding: '20px 72px', background: '#F7F8FA', flexDirection: 'column' }}&gt;&#13;&#10;&#13;&#10;    {/* ===== A · 标题块 ===== */}&#13;&#10;    &lt;Box style={{ height: 100, flexDirection: 'row', alignItems: 'center', gap: 16 }}&gt;&#13;&#10;        &lt;Box style={{ width: 6, height: 38, background: '#E8478B', borderRadius: 3 }} /&gt;&#13;&#10;        &lt;Text style={{ fontSize: 36, fontWeight: 'bold', color: '#1F2430' }}&gt;&#13;&#10;            第四步 · 导出清单&#13;&#10;        &lt;/Text&gt;&#13;&#10;    &lt;/Box&gt;&#13;&#10;&#13;&#10;    {/* ===== B · 内容区（60:40）===== */}&#13;&#10;    &lt;Box style={{ flex: 1, flexDirection: 'row', gap: 32 }}&gt;&#13;&#10;&#13;&#10;        {/* 左 60%：四种格式 */}&#13;&#10;        &lt;Box style={{ width: 686, flexDirection: 'column', gap: 12 }}&gt;&#13;&#10;&#13;&#10;            &lt;Box style={{&#13;&#10;                background: '#FFFFFF', borderRadius: 12, padding: '15px 24px',&#13;&#10;                flexDirection: 'row', alignItems: 'center', gap: 22,&#13;&#10;                borderLeft: '4px solid #E8478B',&#13;&#10;                boxShadow: '0 2px 12px rgba(31,36,48,0.06)',&#13;&#10;            }}&gt;&#13;&#10;                &lt;Text style={{ fontSize: 23, fontWeight: 'bold', color: '#1F2430', width: 130 }}&gt;CSV&lt;/Text&gt;&#13;&#10;                &lt;Text style={{ fontSize: 18, color: '#5A6376' }}&gt;给 Excel / 表格软件看，想再加工就用它&lt;/Text&gt;&#13;&#10;            &lt;/Box&gt;&#13;&#10;&#13;&#10;            &lt;Box style={{&#13;&#10;                background: '#FFFFFF', borderRadius: 12, padding: '15px 24px',&#13;&#10;                flexDirection: 'row', alignItems: 'center', gap: 22,&#13;&#10;                borderLeft: '4px solid #D5DAE4',&#13;&#10;                boxShadow: '0 2px 12px rgba(31,36,48,0.06)',&#13;&#10;            }}&gt;&#13;&#10;                &lt;Text style={{ fontSize: 23, fontWeight: 'bold', color: '#1F2430', width: 130 }}&gt;ID 列表&lt;/Text&gt;&#13;&#10;                &lt;Text style={{ fontSize: 18, color: '#5A6376' }}&gt;一串卡号，方便扔给别的工具处理&lt;/Text&gt;&#13;&#10;            &lt;/Box&gt;&#13;&#10;&#13;&#10;            &lt;Box style={{&#13;&#10;                background: '#FFFFFF', borderRadius: 12, padding: '15px 24px',&#13;&#10;                flexDirection: 'row', alignItems: 'center', gap: 22,&#13;&#10;                borderLeft: '4px solid #D5DAE4',&#13;&#10;                boxShadow: '0 2px 12px rgba(31,36,48,0.06)',&#13;&#10;            }}&gt;&#13;&#10;                &lt;Text style={{ fontSize: 23, fontWeight: 'bold', color: '#1F2430', width: 130 }}&gt;Markdown&lt;/Text&gt;&#13;&#10;                &lt;Text style={{ fontSize: 18, color: '#5A6376' }}&gt;排版好的表格，直接贴到群里分享&lt;/Text&gt;&#13;&#10;            &lt;/Box&gt;&#13;&#10;&#13;&#10;            &lt;Box style={{&#13;&#10;                background: '#FFFFFF', borderRadius: 12, padding: '15px 24px',&#13;&#10;                flexDirection: 'row', alignItems: 'center', gap: 22,&#13;&#10;                borderLeft: '4px solid #D5DAE4',&#13;&#10;                boxShadow: '0 2px 12px rgba(31,36,48,0.06)',&#13;&#10;            }}&gt;&#13;&#10;                &lt;Text style={{ fontSize: 23, fontWeight: 'bold', color: '#1F2430', width: 130 }}&gt;JSON&lt;/Text&gt;&#13;&#10;                &lt;Text style={{ fontSize: 18, color: '#5A6376' }}&gt;完整数据，给会写脚本的人用&lt;/Text&gt;&#13;&#10;            &lt;/Box&gt;&#13;&#10;&#13;&#10;            {/* 引子：导完还能同步 */}&#13;&#10;            &lt;Box style={{&#13;&#10;                marginTop: 'auto', background: '#1F2430', borderRadius: 12,&#13;&#10;                padding: '15px 24px', flexDirection: 'row', alignItems: 'center', gap: 14,&#13;&#10;            }}&gt;&#13;&#10;                &lt;Box style={{ width: 5, height: 30, background: '#E8478B', borderRadius: 3 }} /&gt;&#13;&#10;                &lt;Text style={{ fontSize: 19, color: '#FFFFFF', lineHeight: 1.5 }}&gt;&#13;&#10;                    导出只是中途站 —— 想写进 Bestdori 的，看下一章&#13;&#10;                &lt;/Text&gt;&#13;&#10;            &lt;/Box&gt;&#13;&#10;&#13;&#10;        &lt;/Box&gt;&#13;&#10;&#13;&#10;        {/* 右 40%：导出区截图 */}&#13;&#10;        &lt;Box style={{&#13;&#10;            flex: 1, flexDirection: 'column', gap: 14,&#13;&#10;        }}&gt;&#13;&#10;            &lt;Box style={{&#13;&#10;                width: '100%', height: 82, borderRadius: 12, overflow: 'hidden',&#13;&#10;                background: '#1F2430', border: '1px solid #2E3442',&#13;&#10;                boxShadow: '0 6px 24px rgba(31,36,48,0.18)',&#13;&#10;            }}&gt;&#13;&#10;                &lt;Image src=&quot;assets/step4_export.png&quot; style={{ width: '100%', height: '100%', objectFit: 'contain' }} /&gt;&#13;&#10;            &lt;/Box&gt;&#13;&#10;            &lt;Text style={{ fontSize: 16, color: '#8A93A6', lineHeight: 1.55, textAlign: 'center' }}&gt;&#13;&#10;                导出按钮就在清单页，&#13;&#10;                &lt;br /&gt;&#13;&#10;                按你下一步要拿它做什么来选格式&#13;&#10;            &lt;/Text&gt;&#13;&#10;        &lt;/Box&gt;&#13;&#10;&#13;&#10;    &lt;/Box&gt;&#13;&#10;&#13;&#10;    {/* ===== C · 页脚条 ===== */}&#13;&#10;    &lt;Box style={{ height: 60, flexDirection: 'row', alignItems: 'center', justifyContent: 'space-between' }}&gt;&#13;&#10;        &lt;Text style={{ fontSize: 15, color: '#8A93A6' }}&gt;BestdoriHelper 使用说明&lt;/Text&gt;&#13;&#10;        &lt;Text style={{ fontSize: 15, color: '#8A93A6' }}&gt;09 / 15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6858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95350" y="457200"/>
            <a:ext cx="27622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第四步</a:t>
            </a:r>
            <a:r>
              <a:rPr lang="en-US" sz="2700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导出清单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723900" y="1143000"/>
            <a:ext cx="65341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723900" y="1143000"/>
            <a:ext cx="6534150" cy="552450"/>
          </a:xfrm>
          <a:custGeom>
            <a:pathLst>
              <a:path w="686" h="5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0"/>
                </a:lnTo>
                <a:cubicBezTo>
                  <a:pt x="4" y="54"/>
                  <a:pt x="7" y="57"/>
                  <a:pt x="10" y="58"/>
                </a:cubicBezTo>
                <a:cubicBezTo>
                  <a:pt x="4" y="57"/>
                  <a:pt x="0" y="52"/>
                  <a:pt x="0" y="4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952500" y="1285875"/>
            <a:ext cx="12382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F2430"/>
                </a:solidFill>
                <a:latin typeface="Microsoft YaHei"/>
                <a:ea typeface="Microsoft YaHei"/>
              </a:rPr>
              <a:t>CSV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2400300" y="1314450"/>
            <a:ext cx="3038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给</a:t>
            </a:r>
            <a:r>
              <a:rPr lang="en-US" sz="1350">
                <a:solidFill>
                  <a:srgbClr val="5A6376"/>
                </a:solidFill>
                <a:latin typeface="Microsoft YaHei"/>
                <a:ea typeface="Microsoft YaHei"/>
              </a:rPr>
              <a:t xml:space="preserve"> Excel / </a:t>
            </a: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表格软件看，想再加工就用它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723900" y="1809750"/>
            <a:ext cx="65341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723900" y="1809750"/>
            <a:ext cx="6534150" cy="552450"/>
          </a:xfrm>
          <a:custGeom>
            <a:pathLst>
              <a:path w="686" h="5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0"/>
                </a:lnTo>
                <a:cubicBezTo>
                  <a:pt x="4" y="54"/>
                  <a:pt x="7" y="57"/>
                  <a:pt x="10" y="58"/>
                </a:cubicBezTo>
                <a:cubicBezTo>
                  <a:pt x="4" y="57"/>
                  <a:pt x="0" y="52"/>
                  <a:pt x="0" y="4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5DAE4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952500" y="1952625"/>
            <a:ext cx="12382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ID </a:t>
            </a:r>
            <a:r>
              <a:rPr lang="zh-CN" sz="1725" b="1">
                <a:solidFill>
                  <a:srgbClr val="1F2430"/>
                </a:solidFill>
                <a:latin typeface="Microsoft YaHei"/>
                <a:ea typeface="Microsoft YaHei"/>
              </a:rPr>
              <a:t>列表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2400300" y="1981200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一串卡号，方便扔给别的工具处理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23900" y="2476500"/>
            <a:ext cx="65341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723900" y="2476500"/>
            <a:ext cx="6534150" cy="552450"/>
          </a:xfrm>
          <a:custGeom>
            <a:pathLst>
              <a:path w="686" h="5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0"/>
                </a:lnTo>
                <a:cubicBezTo>
                  <a:pt x="4" y="54"/>
                  <a:pt x="7" y="57"/>
                  <a:pt x="10" y="58"/>
                </a:cubicBezTo>
                <a:cubicBezTo>
                  <a:pt x="4" y="57"/>
                  <a:pt x="0" y="52"/>
                  <a:pt x="0" y="4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5DAE4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952500" y="2619375"/>
            <a:ext cx="12382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F2430"/>
                </a:solidFill>
                <a:latin typeface="Microsoft YaHei"/>
                <a:ea typeface="Microsoft YaHei"/>
              </a:rPr>
              <a:t>Markdown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2400300" y="2647950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排版好的表格，直接贴到群里分享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723900" y="3143250"/>
            <a:ext cx="65341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723900" y="3143250"/>
            <a:ext cx="6534150" cy="552450"/>
          </a:xfrm>
          <a:custGeom>
            <a:pathLst>
              <a:path w="686" h="5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0"/>
                </a:lnTo>
                <a:cubicBezTo>
                  <a:pt x="4" y="54"/>
                  <a:pt x="7" y="57"/>
                  <a:pt x="10" y="58"/>
                </a:cubicBezTo>
                <a:cubicBezTo>
                  <a:pt x="4" y="57"/>
                  <a:pt x="0" y="52"/>
                  <a:pt x="0" y="4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5DAE4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52500" y="3286125"/>
            <a:ext cx="12382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F2430"/>
                </a:solidFill>
                <a:latin typeface="Microsoft YaHei"/>
                <a:ea typeface="Microsoft YaHei"/>
              </a:rPr>
              <a:t>JSON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2400300" y="3314700"/>
            <a:ext cx="222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376"/>
                </a:solidFill>
                <a:latin typeface="Microsoft YaHei"/>
                <a:ea typeface="Microsoft YaHei"/>
              </a:rPr>
              <a:t>完整数据，给会写脚本的人用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85800" y="5476875"/>
            <a:ext cx="6534150" cy="619125"/>
          </a:xfrm>
          <a:prstGeom prst="roundRect">
            <a:avLst>
              <a:gd name="adj" fmla="val 18462"/>
            </a:avLst>
          </a:prstGeom>
          <a:solidFill>
            <a:srgbClr val="1F2430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914400" y="5648325"/>
            <a:ext cx="47625" cy="285750"/>
          </a:xfrm>
          <a:prstGeom prst="roundRect">
            <a:avLst>
              <a:gd name="adj" fmla="val 6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095375" y="5619750"/>
            <a:ext cx="421957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导出只是中途站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想写进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 xml:space="preserve"> Bestdori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的，看下一章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7524750" y="1143000"/>
            <a:ext cx="3981450" cy="781050"/>
          </a:xfrm>
          <a:prstGeom prst="roundRect">
            <a:avLst>
              <a:gd name="adj" fmla="val 14634"/>
            </a:avLst>
          </a:prstGeom>
          <a:solidFill>
            <a:srgbClr val="1F2430"/>
          </a:solidFill>
          <a:ln w="12700">
            <a:solidFill>
              <a:srgbClr val="2E3442"/>
            </a:solidFill>
            <a:prstDash val="solid"/>
          </a:ln>
          <a:effectLst>
            <a:outerShdw blurRad="228600" dist="57150" dir="5400000">
              <a:srgbClr val="1F243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24" name=""/>
          <p:cNvPicPr>
            <a:picLocks noChangeAspect="1"/>
          </p:cNvPicPr>
          <p:nvPr/>
        </p:nvPicPr>
        <p:blipFill>
          <a:blip r:embed="rId1"/>
          <a:srcRect l="951" t="0" r="951" b="0"/>
          <a:stretch>
            <a:fillRect/>
          </a:stretch>
        </p:blipFill>
        <p:spPr>
          <a:xfrm rot="0" flipH="0" flipV="0">
            <a:off x="7524750" y="1143000"/>
            <a:ext cx="3981450" cy="781050"/>
          </a:xfrm>
          <a:custGeom>
            <a:pathLst>
              <a:path w="418" h="82">
                <a:moveTo>
                  <a:pt x="406" y="0"/>
                </a:moveTo>
                <a:cubicBezTo>
                  <a:pt x="413" y="0"/>
                  <a:pt x="418" y="5"/>
                  <a:pt x="418" y="12"/>
                </a:cubicBezTo>
                <a:lnTo>
                  <a:pt x="418" y="70"/>
                </a:lnTo>
                <a:cubicBezTo>
                  <a:pt x="418" y="77"/>
                  <a:pt x="413" y="82"/>
                  <a:pt x="406" y="82"/>
                </a:cubicBezTo>
                <a:lnTo>
                  <a:pt x="12" y="82"/>
                </a:lnTo>
                <a:cubicBezTo>
                  <a:pt x="5" y="82"/>
                  <a:pt x="0" y="77"/>
                  <a:pt x="0" y="70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406" y="0"/>
                </a:lnTo>
                <a:close/>
              </a:path>
            </a:pathLst>
          </a:custGeom>
          <a:ln/>
        </p:spPr>
      </p:pic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524750" y="2057400"/>
            <a:ext cx="3981450" cy="571500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zh-CN" sz="1200">
                <a:solidFill>
                  <a:srgbClr val="8A93A6"/>
                </a:solidFill>
                <a:latin typeface="Microsoft YaHei"/>
                <a:ea typeface="Microsoft YaHei"/>
              </a:rPr>
              <a:t>导出按钮就在清单页，</a:t>
            </a:r>
            <a:endParaRPr/>
          </a:p>
          <a:p>
            <a:pPr algn="ctr">
              <a:lnSpc>
                <a:spcPct val="155000"/>
              </a:lnSpc>
            </a:pPr>
            <a:r>
              <a:rPr lang="zh-CN" sz="1200">
                <a:solidFill>
                  <a:srgbClr val="8A93A6"/>
                </a:solidFill>
                <a:latin typeface="Microsoft YaHei"/>
                <a:ea typeface="Microsoft YaHei"/>
              </a:rPr>
              <a:t>按你下一步要拿它做什么来选格式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85800" y="62960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BestdoriHelper </a:t>
            </a: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020425" y="6296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" name="" descr="&lt;Slide style={{ width: 1280, height: 720, padding: 0, position: 'relative', overflow: 'hidden', background: '#1F2430' }}&gt;&#13;&#10;&#13;&#10;    {/* ===== 背景 ===== */}&#13;&#10;    &lt;Box style={{ position: 'absolute', top: 0, left: 0, width: 1280, height: 720 }}&gt;&#13;&#10;        &lt;svg width={1280} height={720} viewBox='0 0 1280 720'&gt;&#13;&#10;            &lt;defs&gt;&#13;&#10;                &lt;linearGradient id='s2bg' x1='0' y1='0' x2='1' y2='1'&gt;&#13;&#10;                    &lt;stop offset='0%' stopColor='#1B1F2A' /&gt;&#13;&#10;                    &lt;stop offset='100%' stopColor='#2A3242' /&gt;&#13;&#10;                &lt;/linearGradient&gt;&#13;&#10;                &lt;radialGradient id='s2glow' cx='0.78' cy='0.62' r='0.68'&gt;&#13;&#10;                    &lt;stop offset='0%' stopColor='#E8478B' stopOpacity='0.32' /&gt;&#13;&#10;                    &lt;stop offset='100%' stopColor='#E8478B' stopOpacity='0' /&gt;&#13;&#10;                &lt;/radialGradient&gt;&#13;&#10;            &lt;/defs&gt;&#13;&#10;            &lt;rect x='0' y='0' width='1280' height='720' fill='url(#s2bg)' /&gt;&#13;&#10;            &lt;rect x='0' y='0' width='1280' height='720' fill='url(#s2glow)' /&gt;&#13;&#10;&#13;&#10;            {/* 右侧：清单 → 云 的示意（抽象） */}&#13;&#10;            &lt;g&gt;&#13;&#10;                &lt;rect x='905' y='196' width='86' height='112' rx='8' fill='#FFFFFF' fillOpacity='0.07' /&gt;&#13;&#10;                &lt;rect x='1011' y='196' width='86' height='112' rx='8' fill='#FFFFFF' fillOpacity='0.05' /&gt;&#13;&#10;                &lt;rect x='905' y='328' width='86' height='112' rx='8' fill='#FFFFFF' fillOpacity='0.04' /&gt;&#13;&#10;                &lt;rect x='1011' y='328' width='86' height='112' rx='8' fill='#E8478B' fillOpacity='0.22' /&gt;&#13;&#10;&#13;&#10;                {/* 箭头指向云 */}&#13;&#10;                &lt;path d='M1054 384 L1120 384' stroke='#E8478B' strokeOpacity='0.55' strokeWidth='3' strokeLinecap='round' /&gt;&#13;&#10;                &lt;path d='M1108 372 L1122 384 L1108 396' fill='none' stroke='#E8478B' strokeOpacity='0.55' strokeWidth='3' strokeLinecap='round' strokeLinejoin='round' /&gt;&#13;&#10;&#13;&#10;                {/* 云 */}&#13;&#10;                &lt;path d='M1148 402 a34 34 0 0 1 8 -67 a44 44 0 0 1 82 -4 a30 30 0 0 1 4 71 z'&#13;&#10;                    fill='#FFFFFF' fillOpacity='0.10' stroke='#E8478B' strokeOpacity='0.4' strokeWidth='2' /&gt;&#13;&#10;            &lt;/g&gt;&#13;&#10;&#13;&#10;            {/* 左侧装饰弧 */}&#13;&#10;            &lt;circle cx='1160' cy='690' r='180' fill='none' stroke='#FFFFFF' strokeOpacity='0.04' strokeWidth='1' /&gt;&#13;&#10;        &lt;/svg&gt;&#13;&#10;    &lt;/Box&gt;&#13;&#10;&#13;&#10;    {/* ===== 内容 ===== */}&#13;&#10;    &lt;Box style={{&#13;&#10;        position: 'relative', zIndex: 1, height: '100%',&#13;&#10;        flexDirection: 'column', justifyContent: 'center',&#13;&#10;        paddingLeft: 96, paddingRight: 96, gap: 20,&#13;&#10;    }}&gt;&#13;&#10;        &lt;Text style={{ fontSize: 150, fontWeight: 'bold', color: '#E8478B', lineHeight: 1.0, letterSpacing: 2 }}&gt;&#13;&#10;            02&#13;&#10;        &lt;/Text&gt;&#13;&#10;&#13;&#10;        &lt;Text style={{ fontSize: 64, fontWeight: 'bold', color: '#FFFFFF', lineHeight: 1.15 }}&gt;&#13;&#10;            同步到 Bestdori&#13;&#10;        &lt;/Text&gt;&#13;&#10;&#13;&#10;        &lt;Box style={{ width: 68, height: 4, background: '#E8478B', borderRadius: 2, marginTop: 6 }} /&gt;&#13;&#10;&#13;&#10;        &lt;Text style={{ fontSize: 22, color: '#8A93A6', marginTop: 6 }}&gt;&#13;&#10;            两种方式，按你用的版本选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p/>
        </p:txBody>
      </p:sp>
      <p:pic>
        <p:nvPicPr>
          <p:cNvPr id="16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14400" y="1657350"/>
            <a:ext cx="10363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 spc="150">
                <a:solidFill>
                  <a:srgbClr val="E8478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14400" y="3562350"/>
            <a:ext cx="103632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同步到</a:t>
            </a: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Bestdori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914400" y="4657725"/>
            <a:ext cx="647700" cy="3810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14400" y="494347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A93A6"/>
                </a:solidFill>
                <a:latin typeface="Microsoft YaHei"/>
                <a:ea typeface="Microsoft YaHei"/>
              </a:rPr>
              <a:t>两种方式，按你用的版本选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1" name="" descr="&lt;Slide style={{ width: 1280, height: 720, padding: '20px 72px', background: '#F7F8FA', flexDirection: 'column' }}&gt;&#13;&#10;&#13;&#10;    {/* ===== A · 标题块 ===== */}&#13;&#10;    &lt;Box style={{ height: 100, flexDirection: 'row', alignItems: 'center', gap: 16 }}&gt;&#13;&#10;        &lt;Box style={{ width: 6, height: 38, background: '#E8478B', borderRadius: 3 }} /&gt;&#13;&#10;        &lt;Text style={{ fontSize: 36, fontWeight: 'bold', color: '#1F2430' }}&gt;&#13;&#10;            方式一 · 安卓 App 一键同步&#13;&#10;        &lt;/Text&gt;&#13;&#10;        &lt;Box style={{&#13;&#10;            background: 'rgba(232,71,139,0.12)', borderRadius: 20, padding: '5px 14px',&#13;&#10;        }}&gt;&#13;&#10;            &lt;Text style={{ fontSize: 16, color: '#E8478B', fontWeight: 'bold' }}&gt;最省事&lt;/Text&gt;&#13;&#10;        &lt;/Box&gt;&#13;&#10;    &lt;/Box&gt;&#13;&#10;&#13;&#10;    {/* ===== B · 内容区（60:40）===== */}&#13;&#10;    &lt;Box style={{ flex: 1, flexDirection: 'row', gap: 32 }}&gt;&#13;&#10;&#13;&#10;        {/* 左 60%：四步 */}&#13;&#10;        &lt;Box style={{ width: 686, flexDirection: 'column', gap: 12 }}&gt;&#13;&#10;&#13;&#10;            &lt;Box style={{&#13;&#10;                background: '#FFFFFF', borderRadius: 12, padding: '15px 24px',&#13;&#10;                flexDirection: 'row', alignItems: 'center', gap: 20,&#13;&#10;                borderLeft: '4px solid #E8478B',&#13;&#10;                boxShadow: '0 2px 12px rgba(31,36,48,0.06)',&#13;&#10;            }}&gt;&#13;&#10;                &lt;Text style={{ fontSize: 26, fontWeight: 'bold', color: '#E8478B', width: 40 }}&gt;1&lt;/Text&gt;&#13;&#10;                &lt;Box style={{ flex: 1, flexDirection: 'column', gap: 3 }}&gt;&#13;&#10;                    &lt;Text style={{ fontSize: 20, fontWeight: 'bold', color: '#1F2430' }}&gt;登录 Bestdori&lt;/Text&gt;&#13;&#10;                    &lt;Text style={{ fontSize: 16, color: '#5A6376' }}&gt;填账号密码，会话存在手机上，下次不用再登&lt;/Text&gt;&#13;&#10;                &lt;/Box&gt;&#13;&#10;            &lt;/Box&gt;&#13;&#10;&#13;&#10;            &lt;Box style={{&#13;&#10;                background: '#FFFFFF', borderRadius: 12, padding: '15px 24px',&#13;&#10;                flexDirection: 'row', alignItems: 'center', gap: 20,&#13;&#10;                borderLeft: '4px solid #E8478B',&#13;&#10;                boxShadow: '0 2px 12px rgba(31,36,48,0.06)',&#13;&#10;            }}&gt;&#13;&#10;                &lt;Text style={{ fontSize: 26, fontWeight: 'bold', color: '#E8478B', width: 40 }}&gt;2&lt;/Text&gt;&#13;&#10;                &lt;Box style={{ flex: 1, flexDirection: 'column', gap: 3 }}&gt;&#13;&#10;                    &lt;Text style={{ fontSize: 20, fontWeight: 'bold', color: '#1F2430' }}&gt;选一份云端档案&lt;/Text&gt;&#13;&#10;                    &lt;Text style={{ fontSize: 16, color: '#5A6376' }}&gt;就是你 Bestdori 上那份「我的卡牌」&lt;/Text&gt;&#13;&#10;                &lt;/Box&gt;&#13;&#10;            &lt;/Box&gt;&#13;&#10;&#13;&#10;            &lt;Box style={{&#13;&#10;                background: '#FFFFFF', borderRadius: 12, padding: '15px 24px',&#13;&#10;                flexDirection: 'row', alignItems: 'center', gap: 20,&#13;&#10;                borderLeft: '4px solid #E8478B',&#13;&#10;                boxShadow: '0 2px 12px rgba(31,36,48,0.06)',&#13;&#10;            }}&gt;&#13;&#10;                &lt;Text style={{ fontSize: 26, fontWeight: 'bold', color: '#E8478B', width: 40 }}&gt;3&lt;/Text&gt;&#13;&#10;                &lt;Box style={{ flex: 1, flexDirection: 'column', gap: 3 }}&gt;&#13;&#10;                    &lt;Text style={{ fontSize: 20, fontWeight: 'bold', color: '#1F2430' }}&gt;先「生成导入计划」&lt;/Text&gt;&#13;&#10;                    &lt;Text style={{ fontSize: 16, color: '#5A6376' }}&gt;告诉你新增多少、升级多少、跳过多少 —— 先看清再动手&lt;/Text&gt;&#13;&#10;                &lt;/Box&gt;&#13;&#10;            &lt;/Box&gt;&#13;&#10;&#13;&#10;            &lt;Box style={{&#13;&#10;                background: 'rgba(232,71,139,0.07)', borderRadius: 12, padding: '15px 24px',&#13;&#10;                flexDirection: 'row', alignItems: 'center', gap: 20,&#13;&#10;                borderLeft: '4px solid #E8478B',&#13;&#10;            }}&gt;&#13;&#10;                &lt;Text style={{ fontSize: 26, fontWeight: 'bold', color: '#E8478B', width: 40 }}&gt;4&lt;/Text&gt;&#13;&#10;                &lt;Box style={{ flex: 1, flexDirection: 'column', gap: 3 }}&gt;&#13;&#10;                    &lt;Text style={{ fontSize: 20, fontWeight: 'bold', color: '#1F2430' }}&gt;点「开始导入」&lt;/Text&gt;&#13;&#10;                    &lt;Text style={{ fontSize: 16, color: '#5A6376' }}&gt;会弹确认框，不会不打招呼就改你的卡册&lt;/Text&gt;&#13;&#10;                &lt;/Box&gt;&#13;&#10;            &lt;/Box&gt;&#13;&#10;&#13;&#10;        &lt;/Box&gt;&#13;&#10;&#13;&#10;        {/* 右 40%：截图 —— 2.92:1，固定 148 高 */}&#13;&#10;        &lt;Box style={{ flex: 1, flexDirection: 'column', gap: 14 }}&gt;&#13;&#10;            &lt;Box style={{&#13;&#10;                width: '100%', height: 148, borderRadius: 12, overflow: 'hidden',&#13;&#10;                background: '#1F2430', border: '1px solid #2E3442',&#13;&#10;                boxShadow: '0 6px 24px rgba(31,36,48,0.18)',&#13;&#10;            }}&gt;&#13;&#10;                &lt;Image src=&quot;assets/sync_app.png&quot; style={{ width: '100%', height: '100%', objectFit: 'contain' }} /&gt;&#13;&#10;            &lt;/Box&gt;&#13;&#10;            &lt;Box style={{&#13;&#10;                background: '#1F2430', borderRadius: 12, padding: '14px 20px',&#13;&#10;                flexDirection: 'row', alignItems: 'center', gap: 12,&#13;&#10;            }}&gt;&#13;&#10;                &lt;Box style={{ width: 5, height: 26, background: '#E8478B', borderRadius: 3 }} /&gt;&#13;&#10;                &lt;Text style={{ fontSize: 16, color: '#FFFFFF', lineHeight: 1.5 }}&gt;&#13;&#10;                    只有 App 能直连 Bestdori，网页做不到&#13;&#10;                &lt;/Text&gt;&#13;&#10;            &lt;/Box&gt;&#13;&#10;        &lt;/Box&gt;&#13;&#10;&#13;&#10;    &lt;/Box&gt;&#13;&#10;&#13;&#10;    {/* ===== C · 页脚条 ===== */}&#13;&#10;    &lt;Box style={{ height: 60, flexDirection: 'row', alignItems: 'center', justifyContent: 'space-between' }}&gt;&#13;&#10;        &lt;Text style={{ fontSize: 15, color: '#8A93A6' }}&gt;BestdoriHelper 使用说明&lt;/Text&gt;&#13;&#10;        &lt;Text style={{ fontSize: 15, color: '#8A93A6' }}&gt;11 / 15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6858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95350" y="457200"/>
            <a:ext cx="43624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方式一</a:t>
            </a:r>
            <a:r>
              <a:rPr lang="en-US" sz="2700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安卓</a:t>
            </a:r>
            <a:r>
              <a:rPr lang="en-US" sz="2700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App </a:t>
            </a: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一键同步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410200" y="523875"/>
            <a:ext cx="723900" cy="285750"/>
          </a:xfrm>
          <a:prstGeom prst="roundRect">
            <a:avLst>
              <a:gd name="adj" fmla="val 66667"/>
            </a:avLst>
          </a:prstGeom>
          <a:solidFill>
            <a:srgbClr val="E8478B">
              <a:alpha val="12000"/>
            </a:srgbClr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543550" y="5715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478B"/>
                </a:solidFill>
                <a:latin typeface="Microsoft YaHei"/>
                <a:ea typeface="Microsoft YaHei"/>
              </a:rPr>
              <a:t>最省事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723900" y="1143000"/>
            <a:ext cx="653415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723900" y="1143000"/>
            <a:ext cx="6534150" cy="733425"/>
          </a:xfrm>
          <a:custGeom>
            <a:pathLst>
              <a:path w="686" h="7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9"/>
                </a:lnTo>
                <a:cubicBezTo>
                  <a:pt x="4" y="73"/>
                  <a:pt x="7" y="76"/>
                  <a:pt x="10" y="77"/>
                </a:cubicBezTo>
                <a:cubicBezTo>
                  <a:pt x="4" y="76"/>
                  <a:pt x="0" y="71"/>
                  <a:pt x="0" y="6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52500" y="1362075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8478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524000" y="1285875"/>
            <a:ext cx="5467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430"/>
                </a:solidFill>
                <a:latin typeface="Microsoft YaHei"/>
                <a:ea typeface="Microsoft YaHei"/>
              </a:rPr>
              <a:t>登录</a:t>
            </a:r>
            <a:r>
              <a:rPr lang="en-US" sz="1500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Bestdori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524000" y="1543050"/>
            <a:ext cx="546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填账号密码，会话存在手机上，下次不用再登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723900" y="1990725"/>
            <a:ext cx="653415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723900" y="1990725"/>
            <a:ext cx="6534150" cy="733425"/>
          </a:xfrm>
          <a:custGeom>
            <a:pathLst>
              <a:path w="686" h="7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9"/>
                </a:lnTo>
                <a:cubicBezTo>
                  <a:pt x="4" y="73"/>
                  <a:pt x="7" y="76"/>
                  <a:pt x="10" y="77"/>
                </a:cubicBezTo>
                <a:cubicBezTo>
                  <a:pt x="4" y="76"/>
                  <a:pt x="0" y="71"/>
                  <a:pt x="0" y="6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952500" y="2209800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8478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524000" y="2133600"/>
            <a:ext cx="5467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430"/>
                </a:solidFill>
                <a:latin typeface="Microsoft YaHei"/>
                <a:ea typeface="Microsoft YaHei"/>
              </a:rPr>
              <a:t>选一份云端档案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524000" y="2390775"/>
            <a:ext cx="546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就是你</a:t>
            </a:r>
            <a:r>
              <a:rPr lang="en-US" sz="1200">
                <a:solidFill>
                  <a:srgbClr val="5A6376"/>
                </a:solidFill>
                <a:latin typeface="Microsoft YaHei"/>
                <a:ea typeface="Microsoft YaHei"/>
              </a:rPr>
              <a:t xml:space="preserve"> Bestdori </a:t>
            </a: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上那份「我的卡牌」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23900" y="2838450"/>
            <a:ext cx="653415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723900" y="2838450"/>
            <a:ext cx="6534150" cy="733425"/>
          </a:xfrm>
          <a:custGeom>
            <a:pathLst>
              <a:path w="686" h="7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9"/>
                </a:lnTo>
                <a:cubicBezTo>
                  <a:pt x="4" y="73"/>
                  <a:pt x="7" y="76"/>
                  <a:pt x="10" y="77"/>
                </a:cubicBezTo>
                <a:cubicBezTo>
                  <a:pt x="4" y="76"/>
                  <a:pt x="0" y="71"/>
                  <a:pt x="0" y="6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52500" y="3057525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8478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524000" y="2981325"/>
            <a:ext cx="5467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430"/>
                </a:solidFill>
                <a:latin typeface="Microsoft YaHei"/>
                <a:ea typeface="Microsoft YaHei"/>
              </a:rPr>
              <a:t>先「生成导入计划」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524000" y="3238500"/>
            <a:ext cx="546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告诉你新增多少、升级多少、跳过多少</a:t>
            </a:r>
            <a:r>
              <a:rPr lang="en-US" sz="1200">
                <a:solidFill>
                  <a:srgbClr val="5A6376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先看清再动手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723900" y="3686175"/>
            <a:ext cx="6534150" cy="733425"/>
          </a:xfrm>
          <a:prstGeom prst="roundRect">
            <a:avLst>
              <a:gd name="adj" fmla="val 15584"/>
            </a:avLst>
          </a:prstGeom>
          <a:solidFill>
            <a:srgbClr val="E8478B">
              <a:alpha val="7000"/>
            </a:srgbClr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723900" y="3686175"/>
            <a:ext cx="6534150" cy="733425"/>
          </a:xfrm>
          <a:custGeom>
            <a:pathLst>
              <a:path w="686" h="7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9"/>
                </a:lnTo>
                <a:cubicBezTo>
                  <a:pt x="4" y="73"/>
                  <a:pt x="7" y="76"/>
                  <a:pt x="10" y="77"/>
                </a:cubicBezTo>
                <a:cubicBezTo>
                  <a:pt x="4" y="76"/>
                  <a:pt x="0" y="71"/>
                  <a:pt x="0" y="6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952500" y="3905250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847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524000" y="3829050"/>
            <a:ext cx="5467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430"/>
                </a:solidFill>
                <a:latin typeface="Microsoft YaHei"/>
                <a:ea typeface="Microsoft YaHei"/>
              </a:rPr>
              <a:t>点「开始导入」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524000" y="4086225"/>
            <a:ext cx="546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376"/>
                </a:solidFill>
                <a:latin typeface="Microsoft YaHei"/>
                <a:ea typeface="Microsoft YaHei"/>
              </a:rPr>
              <a:t>会弹确认框，不会不打招呼就改你的卡册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7524750" y="1143000"/>
            <a:ext cx="3981450" cy="1409700"/>
          </a:xfrm>
          <a:prstGeom prst="roundRect">
            <a:avLst>
              <a:gd name="adj" fmla="val 8108"/>
            </a:avLst>
          </a:prstGeom>
          <a:solidFill>
            <a:srgbClr val="1F2430"/>
          </a:solidFill>
          <a:ln w="12700">
            <a:solidFill>
              <a:srgbClr val="2E3442"/>
            </a:solidFill>
            <a:prstDash val="solid"/>
          </a:ln>
          <a:effectLst>
            <a:outerShdw blurRad="228600" dist="57150" dir="5400000">
              <a:srgbClr val="1F243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48" name=""/>
          <p:cNvPicPr>
            <a:picLocks noChangeAspect="1"/>
          </p:cNvPicPr>
          <p:nvPr/>
        </p:nvPicPr>
        <p:blipFill>
          <a:blip r:embed="rId1"/>
          <a:srcRect l="1593" t="0" r="1593" b="0"/>
          <a:stretch>
            <a:fillRect/>
          </a:stretch>
        </p:blipFill>
        <p:spPr>
          <a:xfrm rot="0" flipH="0" flipV="0">
            <a:off x="7524750" y="1143000"/>
            <a:ext cx="3981450" cy="1409700"/>
          </a:xfrm>
          <a:custGeom>
            <a:pathLst>
              <a:path w="418" h="148">
                <a:moveTo>
                  <a:pt x="406" y="0"/>
                </a:moveTo>
                <a:cubicBezTo>
                  <a:pt x="413" y="0"/>
                  <a:pt x="418" y="5"/>
                  <a:pt x="418" y="12"/>
                </a:cubicBezTo>
                <a:lnTo>
                  <a:pt x="418" y="136"/>
                </a:lnTo>
                <a:cubicBezTo>
                  <a:pt x="418" y="143"/>
                  <a:pt x="413" y="148"/>
                  <a:pt x="406" y="148"/>
                </a:cubicBezTo>
                <a:lnTo>
                  <a:pt x="12" y="148"/>
                </a:lnTo>
                <a:cubicBezTo>
                  <a:pt x="5" y="148"/>
                  <a:pt x="0" y="143"/>
                  <a:pt x="0" y="136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406" y="0"/>
                </a:lnTo>
                <a:close/>
              </a:path>
            </a:pathLst>
          </a:custGeom>
          <a:ln/>
        </p:spPr>
      </p:pic>
      <p:sp>
        <p:nvSpPr>
          <p:cNvPr id="49" name=""/>
          <p:cNvSpPr/>
          <p:nvPr/>
        </p:nvSpPr>
        <p:spPr>
          <a:xfrm rot="0" flipH="0" flipV="0">
            <a:off x="7524750" y="2686050"/>
            <a:ext cx="3981450" cy="542925"/>
          </a:xfrm>
          <a:prstGeom prst="roundRect">
            <a:avLst>
              <a:gd name="adj" fmla="val 21053"/>
            </a:avLst>
          </a:prstGeom>
          <a:solidFill>
            <a:srgbClr val="1F2430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7715250" y="2838450"/>
            <a:ext cx="47625" cy="247650"/>
          </a:xfrm>
          <a:prstGeom prst="roundRect">
            <a:avLst>
              <a:gd name="adj" fmla="val 6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877175" y="2819400"/>
            <a:ext cx="27146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只有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App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能直连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Bestdori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，网页做不到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5800" y="62960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BestdoriHelper </a:t>
            </a: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020425" y="6296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4" name="" descr="&lt;Slide style={{ width: 1280, height: 720, padding: '20px 72px', background: '#F7F8FA', flexDirection: 'column' }}&gt;&#13;&#10;&#13;&#10;    {/* ===== A · 标题块 ===== */}&#13;&#10;    &lt;Box style={{ height: 100, flexDirection: 'row', alignItems: 'center', gap: 16 }}&gt;&#13;&#10;        &lt;Box style={{ width: 6, height: 38, background: '#E8478B', borderRadius: 3 }} /&gt;&#13;&#10;        &lt;Text style={{ fontSize: 36, fontWeight: 'bold', color: '#1F2430' }}&gt;&#13;&#10;            方式二 · 网页版导出档案导入&#13;&#10;        &lt;/Text&gt;&#13;&#10;    &lt;/Box&gt;&#13;&#10;&#13;&#10;    {/* ===== B · 内容区（左标题栏 32% + 右内容）===== */}&#13;&#10;    &lt;Box style={{ flex: 1, flexDirection: 'row' }}&gt;&#13;&#10;&#13;&#10;        {/* 左：深色标题栏 */}&#13;&#10;        &lt;Box style={{&#13;&#10;            width: 360, background: 'linear-gradient(135deg, #1F2430 0%, #2C3444 100%)',&#13;&#10;            borderRadius: '12px 0 0 12px', padding: '36px 32px',&#13;&#10;            flexDirection: 'column', justifyContent: 'space-between',&#13;&#10;        }}&gt;&#13;&#10;            &lt;Box style={{ flexDirection: 'column', gap: 14 }}&gt;&#13;&#10;                &lt;Text style={{ fontSize: 72, fontWeight: 'bold', color: '#E8478B', lineHeight: 1.0 }}&gt;2&lt;/Text&gt;&#13;&#10;                &lt;Text style={{ fontSize: 29, fontWeight: 'bold', color: '#FFFFFF', lineHeight: 1.25 }}&gt;&#13;&#10;                    借用官网&#13;&#10;                    &lt;br /&gt;&#13;&#10;                    自己的导入入口&#13;&#10;                &lt;/Text&gt;&#13;&#10;                &lt;Box style={{ width: 44, height: 4, background: '#E8478B', borderRadius: 2 }} /&gt;&#13;&#10;                &lt;Text style={{ fontSize: 18, color: '#8A93A6', lineHeight: 1.6 }}&gt;&#13;&#10;                    网页版没法直连 Bestdori，&#13;&#10;                    &lt;br /&gt;&#13;&#10;                    但官网本来就支持粘贴导入&#13;&#10;                &lt;/Text&gt;&#13;&#10;            &lt;/Box&gt;&#13;&#10;            &lt;Box style={{&#13;&#10;                background: 'rgba(255,255,255,0.06)', borderRadius: 10, padding: '13px 16px',&#13;&#10;            }}&gt;&#13;&#10;                &lt;Text style={{ fontSize: 16, color: '#C9CEDA', lineHeight: 1.55 }}&gt;&#13;&#10;                    账号密码不经过任何第三方&#13;&#10;                &lt;/Text&gt;&#13;&#10;            &lt;/Box&gt;&#13;&#10;        &lt;/Box&gt;&#13;&#10;&#13;&#10;        {/* 右：步骤 + 截图 */}&#13;&#10;        &lt;Box style={{&#13;&#10;            flex: 1, background: '#FFFFFF', borderRadius: '0 12px 12px 0',&#13;&#10;            padding: '24px 30px', flexDirection: 'column', gap: 16,&#13;&#10;            boxShadow: '0 2px 12px rgba(31,36,48,0.06)',&#13;&#10;        }}&gt;&#13;&#10;&#13;&#10;            {/* 四步 */}&#13;&#10;            &lt;Box style={{ flexDirection: 'row', gap: 10, alignItems: 'stretch' }}&gt;&#13;&#10;                &lt;Box style={{&#13;&#10;                    flex: 1, background: '#F7F8FA', borderRadius: 10, padding: '13px 14px',&#13;&#10;                    flexDirection: 'column', gap: 4, borderTop: '3px solid #E8478B',&#13;&#10;                }}&gt;&#13;&#10;                    &lt;Text style={{ fontSize: 15, color: '#E8478B', fontWeight: 'bold' }}&gt;①&lt;/Text&gt;&#13;&#10;                    &lt;Text style={{ fontSize: 17, fontWeight: 'bold', color: '#1F2430' }}&gt;导出档案&lt;/Text&gt;&#13;&#10;                    &lt;Text style={{ fontSize: 14, color: '#5A6376', lineHeight: 1.45 }}&gt;&#13;&#10;                        清单页点「导出 Bestdori 档案」&#13;&#10;                    &lt;/Text&gt;&#13;&#10;                &lt;/Box&gt;&#13;&#10;&#13;&#10;                &lt;Box style={{&#13;&#10;                    flex: 1, background: '#F7F8FA', borderRadius: 10, padding: '13px 14px',&#13;&#10;                    flexDirection: 'column', gap: 4, borderTop: '3px solid #E8478B',&#13;&#10;                }}&gt;&#13;&#10;                    &lt;Text style={{ fontSize: 15, color: '#E8478B', fontWeight: 'bold' }}&gt;②&lt;/Text&gt;&#13;&#10;                    &lt;Text style={{ fontSize: 17, fontWeight: 'bold', color: '#1F2430' }}&gt;复制&lt;/Text&gt;&#13;&#10;                    &lt;Text style={{ fontSize: 14, color: '#5A6376', lineHeight: 1.45 }}&gt;&#13;&#10;                        把弹出来的内容整段复制&#13;&#10;                    &lt;/Text&gt;&#13;&#10;                &lt;/Box&gt;&#13;&#10;&#13;&#10;                &lt;Box style={{&#13;&#10;                    flex: 1, background: '#F7F8FA', borderRadius: 10, padding: '13px 14px',&#13;&#10;                    flexDirection: 'column', gap: 4, borderTop: '3px solid #E8478B',&#13;&#10;                }}&gt;&#13;&#10;                    &lt;Text style={{ fontSize: 15, color: '#E8478B', fontWeight: 'bold' }}&gt;③&lt;/Text&gt;&#13;&#10;                    &lt;Text style={{ fontSize: 17, fontWeight: 'bold', color: '#1F2430' }}&gt;打开官网&lt;/Text&gt;&#13;&#10;                    &lt;Text style={{ fontSize: 14, color: '#5A6376', lineHeight: 1.45 }}&gt;&#13;&#10;                        bestdori.com/profile/manager&#13;&#10;                    &lt;/Text&gt;&#13;&#10;                &lt;/Box&gt;&#13;&#10;&#13;&#10;                &lt;Box style={{&#13;&#10;                    flex: 1, background: '#F7F8FA', borderRadius: 10, padding: '13px 14px',&#13;&#10;                    flexDirection: 'column', gap: 4, borderTop: '3px solid #E8478B',&#13;&#10;                }}&gt;&#13;&#10;                    &lt;Text style={{ fontSize: 15, color: '#E8478B', fontWeight: 'bold' }}&gt;④&lt;/Text&gt;&#13;&#10;                    &lt;Text style={{ fontSize: 17, fontWeight: 'bold', color: '#1F2430' }}&gt;Import 粘贴&lt;/Text&gt;&#13;&#10;                    &lt;Text style={{ fontSize: 14, color: '#5A6376', lineHeight: 1.45 }}&gt;&#13;&#10;                        点 Import，粘进去，完成&#13;&#10;                    &lt;/Text&gt;&#13;&#10;                &lt;/Box&gt;&#13;&#10;            &lt;/Box&gt;&#13;&#10;&#13;&#10;            {/* 截图 —— 5.20:1 超宽条，固定 146 高 */}&#13;&#10;            &lt;Box style={{&#13;&#10;                width: '100%', height: 146, borderRadius: 10, overflow: 'hidden',&#13;&#10;                background: '#1F2430', border: '1px solid #2E3442',&#13;&#10;            }}&gt;&#13;&#10;                &lt;Image src=&quot;assets/sync_web.png&quot; style={{ width: '100%', height: '100%', objectFit: 'contain' }} /&gt;&#13;&#10;            &lt;/Box&gt;&#13;&#10;&#13;&#10;        &lt;/Box&gt;&#13;&#10;    &lt;/Box&gt;&#13;&#10;&#13;&#10;    {/* ===== C · 页脚条 ===== */}&#13;&#10;    &lt;Box style={{ height: 60, flexDirection: 'row', alignItems: 'center', justifyContent: 'space-between' }}&gt;&#13;&#10;        &lt;Text style={{ fontSize: 15, color: '#8A93A6' }}&gt;BestdoriHelper 使用说明&lt;/Text&gt;&#13;&#10;        &lt;Text style={{ fontSize: 15, color: '#8A93A6' }}&gt;12 / 15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858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95350" y="457200"/>
            <a:ext cx="44767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方式二</a:t>
            </a:r>
            <a:r>
              <a:rPr lang="en-US" sz="2700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网页版导出档案导入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85800" y="1143000"/>
            <a:ext cx="3429000" cy="4953000"/>
          </a:xfrm>
          <a:custGeom>
            <a:pathLst>
              <a:path w="360" h="520">
                <a:moveTo>
                  <a:pt x="12" y="0"/>
                </a:moveTo>
                <a:lnTo>
                  <a:pt x="360" y="0"/>
                </a:lnTo>
                <a:lnTo>
                  <a:pt x="360" y="0"/>
                </a:lnTo>
                <a:lnTo>
                  <a:pt x="360" y="520"/>
                </a:lnTo>
                <a:lnTo>
                  <a:pt x="360" y="520"/>
                </a:lnTo>
                <a:lnTo>
                  <a:pt x="12" y="520"/>
                </a:lnTo>
                <a:cubicBezTo>
                  <a:pt x="5" y="520"/>
                  <a:pt x="0" y="515"/>
                  <a:pt x="0" y="50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gradFill>
            <a:gsLst>
              <a:gs pos="0">
                <a:srgbClr val="1F2430"/>
              </a:gs>
              <a:gs pos="100000">
                <a:srgbClr val="2C344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90600" y="1485900"/>
            <a:ext cx="28194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E8478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90600" y="2447925"/>
            <a:ext cx="2819400" cy="8286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175" b="1">
                <a:solidFill>
                  <a:srgbClr val="FFFFFF"/>
                </a:solidFill>
                <a:latin typeface="Microsoft YaHei"/>
                <a:ea typeface="Microsoft YaHei"/>
              </a:rPr>
              <a:t>借用官网</a:t>
            </a:r>
            <a:endParaRPr/>
          </a:p>
          <a:p>
            <a:pPr>
              <a:lnSpc>
                <a:spcPct val="125000"/>
              </a:lnSpc>
            </a:pPr>
            <a:r>
              <a:rPr lang="zh-CN" sz="2175" b="1">
                <a:solidFill>
                  <a:srgbClr val="FFFFFF"/>
                </a:solidFill>
                <a:latin typeface="Microsoft YaHei"/>
                <a:ea typeface="Microsoft YaHei"/>
              </a:rPr>
              <a:t>自己的导入入口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990600" y="340995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90600" y="3581400"/>
            <a:ext cx="281940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8A93A6"/>
                </a:solidFill>
                <a:latin typeface="Microsoft YaHei"/>
                <a:ea typeface="Microsoft YaHei"/>
              </a:rPr>
              <a:t>网页版没法直连</a:t>
            </a:r>
            <a:r>
              <a:rPr lang="en-US" sz="1350">
                <a:solidFill>
                  <a:srgbClr val="8A93A6"/>
                </a:solidFill>
                <a:latin typeface="Microsoft YaHei"/>
                <a:ea typeface="Microsoft YaHei"/>
              </a:rPr>
              <a:t xml:space="preserve"> Bestdori</a:t>
            </a:r>
            <a:r>
              <a:rPr lang="zh-CN" sz="1350">
                <a:solidFill>
                  <a:srgbClr val="8A93A6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60000"/>
              </a:lnSpc>
            </a:pPr>
            <a:r>
              <a:rPr lang="zh-CN" sz="1350">
                <a:solidFill>
                  <a:srgbClr val="8A93A6"/>
                </a:solidFill>
                <a:latin typeface="Microsoft YaHei"/>
                <a:ea typeface="Microsoft YaHei"/>
              </a:rPr>
              <a:t>但官网本来就支持粘贴导入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990600" y="5219700"/>
            <a:ext cx="2819400" cy="533400"/>
          </a:xfrm>
          <a:prstGeom prst="roundRect">
            <a:avLst>
              <a:gd name="adj" fmla="val 17857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143000" y="5343525"/>
            <a:ext cx="25146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C9CEDA"/>
                </a:solidFill>
                <a:latin typeface="Microsoft YaHei"/>
                <a:ea typeface="Microsoft YaHei"/>
              </a:rPr>
              <a:t>账号密码不经过任何第三方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114800" y="1143000"/>
            <a:ext cx="7391400" cy="4953000"/>
          </a:xfrm>
          <a:custGeom>
            <a:pathLst>
              <a:path w="776" h="520">
                <a:moveTo>
                  <a:pt x="0" y="0"/>
                </a:moveTo>
                <a:lnTo>
                  <a:pt x="764" y="0"/>
                </a:lnTo>
                <a:cubicBezTo>
                  <a:pt x="771" y="0"/>
                  <a:pt x="776" y="5"/>
                  <a:pt x="776" y="12"/>
                </a:cubicBezTo>
                <a:lnTo>
                  <a:pt x="776" y="508"/>
                </a:lnTo>
                <a:cubicBezTo>
                  <a:pt x="776" y="515"/>
                  <a:pt x="771" y="520"/>
                  <a:pt x="764" y="520"/>
                </a:cubicBezTo>
                <a:lnTo>
                  <a:pt x="0" y="520"/>
                </a:lnTo>
                <a:lnTo>
                  <a:pt x="0" y="52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114300" dist="19050" dir="5400000">
              <a:srgbClr val="1F243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4400550" y="1400175"/>
            <a:ext cx="1638300" cy="1190625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4400550" y="1400175"/>
            <a:ext cx="1638300" cy="1190625"/>
          </a:xfrm>
          <a:custGeom>
            <a:pathLst>
              <a:path w="172" h="125">
                <a:moveTo>
                  <a:pt x="162" y="0"/>
                </a:moveTo>
                <a:cubicBezTo>
                  <a:pt x="167" y="0"/>
                  <a:pt x="171" y="3"/>
                  <a:pt x="172" y="8"/>
                </a:cubicBezTo>
                <a:cubicBezTo>
                  <a:pt x="171" y="5"/>
                  <a:pt x="168" y="3"/>
                  <a:pt x="16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62" y="0"/>
                </a:ln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533900" y="152400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E8478B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533900" y="1733550"/>
            <a:ext cx="137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430"/>
                </a:solidFill>
                <a:latin typeface="Microsoft YaHei"/>
                <a:ea typeface="Microsoft YaHei"/>
              </a:rPr>
              <a:t>导出档案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533900" y="1971675"/>
            <a:ext cx="13716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清单页点「导出</a:t>
            </a:r>
            <a:r>
              <a:rPr lang="en-US" sz="1050">
                <a:solidFill>
                  <a:srgbClr val="5A6376"/>
                </a:solidFill>
                <a:latin typeface="Microsoft YaHei"/>
                <a:ea typeface="Microsoft YaHei"/>
              </a:rPr>
              <a:t xml:space="preserve"> Bestdori </a:t>
            </a: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档案」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134100" y="1400175"/>
            <a:ext cx="1628775" cy="1190625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6134100" y="1400175"/>
            <a:ext cx="1628775" cy="1190625"/>
          </a:xfrm>
          <a:custGeom>
            <a:pathLst>
              <a:path w="171" h="125">
                <a:moveTo>
                  <a:pt x="161" y="0"/>
                </a:moveTo>
                <a:cubicBezTo>
                  <a:pt x="166" y="0"/>
                  <a:pt x="170" y="3"/>
                  <a:pt x="171" y="8"/>
                </a:cubicBezTo>
                <a:cubicBezTo>
                  <a:pt x="170" y="5"/>
                  <a:pt x="167" y="3"/>
                  <a:pt x="164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61" y="0"/>
                </a:ln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267450" y="1524000"/>
            <a:ext cx="1362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E8478B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267450" y="1733550"/>
            <a:ext cx="1362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430"/>
                </a:solidFill>
                <a:latin typeface="Microsoft YaHei"/>
                <a:ea typeface="Microsoft YaHei"/>
              </a:rPr>
              <a:t>复制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267450" y="1971675"/>
            <a:ext cx="13620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把弹出来的内容整段复制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7858125" y="1400175"/>
            <a:ext cx="1638300" cy="1190625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7858125" y="1400175"/>
            <a:ext cx="1638300" cy="1190625"/>
          </a:xfrm>
          <a:custGeom>
            <a:pathLst>
              <a:path w="172" h="125">
                <a:moveTo>
                  <a:pt x="162" y="0"/>
                </a:moveTo>
                <a:cubicBezTo>
                  <a:pt x="167" y="0"/>
                  <a:pt x="171" y="3"/>
                  <a:pt x="172" y="8"/>
                </a:cubicBezTo>
                <a:cubicBezTo>
                  <a:pt x="171" y="5"/>
                  <a:pt x="168" y="3"/>
                  <a:pt x="16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62" y="0"/>
                </a:ln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991475" y="152400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E8478B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991475" y="1733550"/>
            <a:ext cx="137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430"/>
                </a:solidFill>
                <a:latin typeface="Microsoft YaHei"/>
                <a:ea typeface="Microsoft YaHei"/>
              </a:rPr>
              <a:t>打开官网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991475" y="1971675"/>
            <a:ext cx="19335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5A6376"/>
                </a:solidFill>
                <a:latin typeface="Microsoft YaHei"/>
                <a:ea typeface="Microsoft YaHei"/>
              </a:rPr>
              <a:t>bestdori.com/profile/manager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9591675" y="1400175"/>
            <a:ext cx="1628775" cy="1190625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9591675" y="1400175"/>
            <a:ext cx="1628775" cy="1190625"/>
          </a:xfrm>
          <a:custGeom>
            <a:pathLst>
              <a:path w="171" h="125">
                <a:moveTo>
                  <a:pt x="161" y="0"/>
                </a:moveTo>
                <a:cubicBezTo>
                  <a:pt x="166" y="0"/>
                  <a:pt x="170" y="3"/>
                  <a:pt x="171" y="8"/>
                </a:cubicBezTo>
                <a:cubicBezTo>
                  <a:pt x="170" y="5"/>
                  <a:pt x="167" y="3"/>
                  <a:pt x="164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61" y="0"/>
                </a:lnTo>
                <a:close/>
              </a:path>
            </a:pathLst>
          </a:custGeom>
          <a:solidFill>
            <a:srgbClr val="E8478B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725025" y="1524000"/>
            <a:ext cx="1362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E8478B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725025" y="1733550"/>
            <a:ext cx="1362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Import </a:t>
            </a:r>
            <a:r>
              <a:rPr lang="zh-CN" sz="1275" b="1">
                <a:solidFill>
                  <a:srgbClr val="1F2430"/>
                </a:solidFill>
                <a:latin typeface="Microsoft YaHei"/>
                <a:ea typeface="Microsoft YaHei"/>
              </a:rPr>
              <a:t>粘贴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725025" y="1971675"/>
            <a:ext cx="13620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点</a:t>
            </a:r>
            <a:r>
              <a:rPr lang="en-US" sz="1050">
                <a:solidFill>
                  <a:srgbClr val="5A6376"/>
                </a:solidFill>
                <a:latin typeface="Microsoft YaHei"/>
                <a:ea typeface="Microsoft YaHei"/>
              </a:rPr>
              <a:t xml:space="preserve"> Import</a:t>
            </a: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，粘进去，完成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4400550" y="2714625"/>
            <a:ext cx="6819900" cy="1390650"/>
          </a:xfrm>
          <a:prstGeom prst="roundRect">
            <a:avLst>
              <a:gd name="adj" fmla="val 6849"/>
            </a:avLst>
          </a:prstGeom>
          <a:solidFill>
            <a:srgbClr val="1F2430"/>
          </a:solidFill>
          <a:ln w="12700">
            <a:solidFill>
              <a:srgbClr val="2E3442"/>
            </a:solidFill>
            <a:prstDash val="solid"/>
          </a:ln>
        </p:spPr>
        <p:txBody>
          <a:bodyPr/>
          <a:p/>
        </p:txBody>
      </p:sp>
      <p:pic>
        <p:nvPicPr>
          <p:cNvPr id="87" name=""/>
          <p:cNvPicPr>
            <a:picLocks noChangeAspect="1"/>
          </p:cNvPicPr>
          <p:nvPr/>
        </p:nvPicPr>
        <p:blipFill>
          <a:blip r:embed="rId1"/>
          <a:srcRect l="2812" t="0" r="2812" b="0"/>
          <a:stretch>
            <a:fillRect/>
          </a:stretch>
        </p:blipFill>
        <p:spPr>
          <a:xfrm rot="0" flipH="0" flipV="0">
            <a:off x="4400550" y="2714625"/>
            <a:ext cx="6819900" cy="1390650"/>
          </a:xfrm>
          <a:custGeom>
            <a:pathLst>
              <a:path w="716" h="146">
                <a:moveTo>
                  <a:pt x="706" y="0"/>
                </a:moveTo>
                <a:cubicBezTo>
                  <a:pt x="712" y="0"/>
                  <a:pt x="716" y="5"/>
                  <a:pt x="716" y="10"/>
                </a:cubicBezTo>
                <a:lnTo>
                  <a:pt x="716" y="136"/>
                </a:lnTo>
                <a:cubicBezTo>
                  <a:pt x="716" y="142"/>
                  <a:pt x="712" y="146"/>
                  <a:pt x="706" y="146"/>
                </a:cubicBezTo>
                <a:lnTo>
                  <a:pt x="10" y="146"/>
                </a:lnTo>
                <a:cubicBezTo>
                  <a:pt x="4" y="146"/>
                  <a:pt x="0" y="142"/>
                  <a:pt x="0" y="136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706" y="0"/>
                </a:lnTo>
                <a:close/>
              </a:path>
            </a:pathLst>
          </a:custGeom>
          <a:ln/>
        </p:spPr>
      </p:pic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85800" y="62960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BestdoriHelper </a:t>
            </a: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020425" y="6296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0" name="" descr="&lt;Slide style={{ width: 1280, height: 720, padding: '20px 72px', background: '#F7F8FA', flexDirection: 'column' }}&gt;&#10;&#10;    {/* ===== A · 标题块 ===== */}&#10;    &lt;Box style={{ height: 100, flexDirection: 'row', alignItems: 'center', gap: 16 }}&gt;&#10;        &lt;Box style={{ width: 6, height: 38, background: '#E8478B', borderRadius: 3 }} /&gt;&#10;        &lt;Text style={{ fontSize: 36, fontWeight: 'bold', color: '#1F2430' }}&gt;&#10;            先切成中文界面&#10;        &lt;/Text&gt;&#10;        &lt;Text style={{ fontSize: 19, color: '#8A93A6' }}&gt;&#10;            官网默认英文，先切中文再照着做&#10;        &lt;/Text&gt;&#10;    &lt;/Box&gt;&#10;&#10;    {/* ===== B · 内容区：左截图 + 右步骤 ===== */}&#10;    &lt;Box style={{ flex: 1, flexDirection: 'row', gap: 26, alignItems: 'center' }}&gt;&#10;&#10;        {/* 左：欢迎弹窗实拍（「用户界面语言」里「简」已选中） */}&#10;        &lt;Box style={{&#10;            width: 560, height: 440, borderRadius: 12, overflow: 'hidden',&#10;            background: '#FFFFFF', border: '1px solid #D5DAE4',&#10;            alignItems: 'center', justifyContent: 'center',&#10;            boxShadow: '0 6px 24px rgba(31,36,48,0.18)',&#10;        }}&gt;&#10;            &lt;Image src=&quot;assets/web_lang_dialog.png&quot; style={{ width: '100%', height: '100%', objectFit: 'contain' }} /&gt;&#10;        &lt;/Box&gt;&#10;&#10;        {/* 右：说明 */}&#10;        &lt;Box style={{ flex: 1, flexDirection: 'column', gap: 15 }}&gt;&#10;&#10;            &lt;Box style={{ flexDirection: 'row', gap: 12, alignItems: 'flex-start' }}&gt;&#10;                &lt;Box style={{&#10;                    width: 30, height: 30, borderRadius: 8, background: '#E8478B',&#10;                    alignItems: 'center', justifyContent: 'center',&#10;                }}&gt;&#10;                    &lt;Text style={{ fontSize: 16, fontWeight: 'bold', color: '#FFFFFF' }}&gt;1&lt;/Text&gt;&#10;                &lt;/Box&gt;&#10;                &lt;Box style={{ flex: 1, flexDirection: 'column' }}&gt;&#10;                    &lt;Text style={{ fontSize: 18, fontWeight: 'bold', color: '#1F2430' }}&gt;第一次进会弹设置框&lt;/Text&gt;&#10;                    &lt;Text style={{ fontSize: 14, color: '#5A6376', lineHeight: 1.4 }}&gt;&#10;                        里面就有「用户界面语言」，点「简」&#10;                    &lt;/Text&gt;&#10;                &lt;/Box&gt;&#10;            &lt;/Box&gt;&#10;&#10;            &lt;Box style={{ flexDirection: 'row', gap: 12, alignItems: 'flex-start' }}&gt;&#10;                &lt;Box style={{&#10;                    width: 30, height: 30, borderRadius: 8, background: '#E8478B',&#10;                    alignItems: 'center', justifyContent: 'center',&#10;                }}&gt;&#10;                    &lt;Text style={{ fontSize: 16, fontWeight: 'bold', color: '#FFFFFF' }}&gt;2&lt;/Text&gt;&#10;                &lt;/Box&gt;&#10;                &lt;Box style={{ flex: 1, flexDirection: 'column' }}&gt;&#10;                    &lt;Text style={{ fontSize: 18, fontWeight: 'bold', color: '#1F2430' }}&gt;已经访问过了？&lt;/Text&gt;&#10;                    &lt;Text style={{ fontSize: 14, color: '#5A6376', lineHeight: 1.4 }}&gt;&#10;                        去 用户档案 → 设置，同样能改&#10;                    &lt;/Text&gt;&#10;                &lt;/Box&gt;&#10;            &lt;/Box&gt;&#10;&#10;            &lt;Box style={{&#10;                flexDirection: 'row', gap: 10, alignItems: 'flex-start',&#10;                background: 'rgba(232,71,139,0.07)', borderRadius: 10, padding: '11px 15px',&#10;                marginTop: 2,&#10;            }}&gt;&#10;                &lt;Box style={{ width: 4, height: 44, background: '#E8478B', borderRadius: 2 }} /&gt;&#10;                &lt;Box style={{ flex: 1, flexDirection: 'column' }}&gt;&#10;                    &lt;Text style={{ fontSize: 14, fontWeight: 'bold', color: '#1F2430', lineHeight: 1.45 }}&gt;&#10;                        切成中文只是为了对得上这份说明&#10;                    &lt;/Text&gt;&#10;                    &lt;Text style={{ fontSize: 14, color: '#5A6376', lineHeight: 1.45 }}&gt;&#10;                        不切也能用，只是下一页的按钮名字会对不上（导入资料 = Import）。&#10;                    &lt;/Text&gt;&#10;                &lt;/Box&gt;&#10;            &lt;/Box&gt;&#10;&#10;        &lt;/Box&gt;&#10;    &lt;/Box&gt;&#10;&#10;    {/* ===== C · 页脚条 ===== */}&#10;    &lt;Box style={{ height: 60, flexDirection: 'row', alignItems: 'center', justifyContent: 'space-between' }}&gt;&#10;        &lt;Text style={{ fontSize: 15, color: '#8A93A6' }}&gt;BestdoriHelper 使用说明&lt;/Text&gt;&#10;        &lt;Text style={{ fontSize: 15, color: '#8A93A6' }}&gt;13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6858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95350" y="45720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先切成中文界面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448050" y="561975"/>
            <a:ext cx="2714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A93A6"/>
                </a:solidFill>
                <a:latin typeface="Microsoft YaHei"/>
                <a:ea typeface="Microsoft YaHei"/>
              </a:rPr>
              <a:t>官网默认英文，先切中文再照着做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85800" y="1524000"/>
            <a:ext cx="5334000" cy="4191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228600" dist="57150" dir="5400000">
              <a:srgbClr val="1F243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96" name=""/>
          <p:cNvPicPr>
            <a:picLocks noChangeAspect="1"/>
          </p:cNvPicPr>
          <p:nvPr/>
        </p:nvPicPr>
        <p:blipFill>
          <a:blip r:embed="rId1"/>
          <a:srcRect l="0" t="2295" r="0" b="2295"/>
          <a:stretch>
            <a:fillRect/>
          </a:stretch>
        </p:blipFill>
        <p:spPr>
          <a:xfrm rot="0" flipH="0" flipV="0">
            <a:off x="685800" y="1524000"/>
            <a:ext cx="5334000" cy="4191000"/>
          </a:xfrm>
          <a:custGeom>
            <a:pathLst>
              <a:path w="560" h="440">
                <a:moveTo>
                  <a:pt x="548" y="0"/>
                </a:moveTo>
                <a:cubicBezTo>
                  <a:pt x="555" y="0"/>
                  <a:pt x="560" y="5"/>
                  <a:pt x="560" y="12"/>
                </a:cubicBezTo>
                <a:lnTo>
                  <a:pt x="560" y="428"/>
                </a:lnTo>
                <a:cubicBezTo>
                  <a:pt x="560" y="435"/>
                  <a:pt x="555" y="440"/>
                  <a:pt x="548" y="440"/>
                </a:cubicBezTo>
                <a:lnTo>
                  <a:pt x="12" y="440"/>
                </a:lnTo>
                <a:cubicBezTo>
                  <a:pt x="5" y="440"/>
                  <a:pt x="0" y="435"/>
                  <a:pt x="0" y="42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548" y="0"/>
                </a:lnTo>
                <a:close/>
              </a:path>
            </a:pathLst>
          </a:custGeom>
          <a:ln/>
        </p:spPr>
      </p:pic>
      <p:sp>
        <p:nvSpPr>
          <p:cNvPr id="97" name=""/>
          <p:cNvSpPr/>
          <p:nvPr/>
        </p:nvSpPr>
        <p:spPr>
          <a:xfrm rot="0" flipH="0" flipV="0">
            <a:off x="6267450" y="26860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362700" y="27336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667500" y="2686050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Microsoft YaHei"/>
                <a:ea typeface="Microsoft YaHei"/>
              </a:rPr>
              <a:t>第一次进会弹设置框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667500" y="2895600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里面就有「用户界面语言」，点「简」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267450" y="326707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362700" y="33147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667500" y="3267075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Microsoft YaHei"/>
                <a:ea typeface="Microsoft YaHei"/>
              </a:rPr>
              <a:t>已经访问过了？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667500" y="3476625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去</a:t>
            </a:r>
            <a:r>
              <a:rPr lang="en-US" sz="1050">
                <a:solidFill>
                  <a:srgbClr val="5A6376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用户档案</a:t>
            </a:r>
            <a:r>
              <a:rPr lang="en-US" sz="1050">
                <a:solidFill>
                  <a:srgbClr val="5A637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设置，同样能改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267450" y="3867150"/>
            <a:ext cx="5238750" cy="685800"/>
          </a:xfrm>
          <a:prstGeom prst="roundRect">
            <a:avLst>
              <a:gd name="adj" fmla="val 13889"/>
            </a:avLst>
          </a:prstGeom>
          <a:solidFill>
            <a:srgbClr val="E8478B">
              <a:alpha val="7000"/>
            </a:srgbClr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6410325" y="3971925"/>
            <a:ext cx="38100" cy="41910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543675" y="3971925"/>
            <a:ext cx="48196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1F2430"/>
                </a:solidFill>
                <a:latin typeface="Microsoft YaHei"/>
                <a:ea typeface="Microsoft YaHei"/>
              </a:rPr>
              <a:t>切成中文只是为了对得上这份说明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543675" y="4210050"/>
            <a:ext cx="48196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不切也能用，只是下一页的按钮名字会对不上（导入资料</a:t>
            </a:r>
            <a:r>
              <a:rPr lang="en-US" sz="1050">
                <a:solidFill>
                  <a:srgbClr val="5A6376"/>
                </a:solidFill>
                <a:latin typeface="Microsoft YaHei"/>
                <a:ea typeface="Microsoft YaHei"/>
              </a:rPr>
              <a:t xml:space="preserve"> = Import</a:t>
            </a: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85800" y="62960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BestdoriHelper </a:t>
            </a: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1020425" y="6296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11" name="" descr="&lt;Slide style={{ width: 1280, height: 720, padding: '20px 72px', background: '#F7F8FA', flexDirection: 'column' }}&gt;&#13;&#10;&#13;&#10;    {/* ===== A · 标题块 ===== */}&#13;&#10;    &lt;Box style={{ height: 100, flexDirection: 'row', alignItems: 'center', gap: 16 }}&gt;&#13;&#10;        &lt;Box style={{ width: 6, height: 38, background: '#E8478B', borderRadius: 3 }} /&gt;&#13;&#10;        &lt;Text style={{ fontSize: 36, fontWeight: 'bold', color: '#1F2430' }}&gt;&#13;&#10;            在官网上导入&#13;&#10;        &lt;/Text&gt;&#13;&#10;        &lt;Text style={{ fontSize: 19, color: '#8A93A6' }}&gt;&#13;&#10;            bestdori.com/profile/manager&#13;&#10;        &lt;/Text&gt;&#13;&#10;    &lt;/Box&gt;&#13;&#10;&#13;&#10;    {/* ===== B · 内容区：左截图 + 右步骤 ===== */}&#13;&#10;    &lt;Box style={{ flex: 1, flexDirection: 'row', gap: 26, alignItems: 'center' }}&gt;&#13;&#10;&#13;&#10;        {/* 左：带 ①②③④ 标注的官网实拍 */}&#13;&#10;        &lt;Box style={{&#13;&#10;            width: 700, height: 438, borderRadius: 12, overflow: 'hidden',&#13;&#10;            background: '#1F2430', border: '1px solid #2E3442',&#13;&#10;            boxShadow: '0 6px 24px rgba(31,36,48,0.18)',&#13;&#10;        }}&gt;&#13;&#10;            &lt;Image src=&quot;assets/web_import_annotated.png&quot; style={{ width: '100%', height: '100%', objectFit: 'contain' }} /&gt;&#13;&#10;        &lt;/Box&gt;&#13;&#10;&#13;&#10;        {/* 右：四步 + 提醒 */}&#13;&#10;        &lt;Box style={{ flex: 1, flexDirection: 'column', gap: 15 }}&gt;&#13;&#10;&#13;&#10;            &lt;Box style={{ flexDirection: 'row', gap: 12, alignItems: 'flex-start' }}&gt;&#13;&#10;                &lt;Box style={{&#13;&#10;                    width: 30, height: 30, borderRadius: 8, background: '#E8478B',&#13;&#10;                    alignItems: 'center', justifyContent: 'center',&#13;&#10;                }}&gt;&#13;&#10;                    &lt;Text style={{ fontSize: 16, fontWeight: 'bold', color: '#FFFFFF' }}&gt;1&lt;/Text&gt;&#13;&#10;                &lt;/Box&gt;&#13;&#10;                &lt;Box style={{ flex: 1, flexDirection: 'column' }}&gt;&#13;&#10;                    &lt;Text style={{ fontSize: 18, fontWeight: 'bold', color: '#1F2430' }}&gt;先登录&lt;/Text&gt;&#13;&#10;                    &lt;Text style={{ fontSize: 14, color: '#5A6376', lineHeight: 1.4 }}&gt;&#13;&#10;                        页面中部「云存取」那段里的 登录&#13;&#10;                    &lt;/Text&gt;&#13;&#10;                &lt;/Box&gt;&#13;&#10;            &lt;/Box&gt;&#13;&#10;&#13;&#10;            &lt;Box style={{ flexDirection: 'row', gap: 12, alignItems: 'flex-start' }}&gt;&#13;&#10;                &lt;Box style={{&#13;&#10;                    width: 30, height: 30, borderRadius: 8, background: '#E8478B',&#13;&#10;                    alignItems: 'center', justifyContent: 'center',&#13;&#10;                }}&gt;&#13;&#10;                    &lt;Text style={{ fontSize: 16, fontWeight: 'bold', color: '#FFFFFF' }}&gt;2&lt;/Text&gt;&#13;&#10;                &lt;/Box&gt;&#13;&#10;                &lt;Box style={{ flex: 1, flexDirection: 'column' }}&gt;&#13;&#10;                    &lt;Text style={{ fontSize: 18, fontWeight: 'bold', color: '#1F2430' }}&gt;点侧栏 导入资料&lt;/Text&gt;&#13;&#10;                    &lt;Text style={{ fontSize: 14, color: '#5A6376', lineHeight: 1.4 }}&gt;&#13;&#10;                        左栏「用户档案」组里，云存取下一行&#13;&#10;                    &lt;/Text&gt;&#13;&#10;                &lt;/Box&gt;&#13;&#10;            &lt;/Box&gt;&#13;&#10;&#13;&#10;            &lt;Box style={{ flexDirection: 'row', gap: 12, alignItems: 'flex-start' }}&gt;&#13;&#10;                &lt;Box style={{&#13;&#10;                    width: 30, height: 30, borderRadius: 8, background: '#E8478B',&#13;&#10;                    alignItems: 'center', justifyContent: 'center',&#13;&#10;                }}&gt;&#13;&#10;                    &lt;Text style={{ fontSize: 16, fontWeight: 'bold', color: '#FFFFFF' }}&gt;3&lt;/Text&gt;&#13;&#10;                &lt;/Box&gt;&#13;&#10;                &lt;Box style={{ flex: 1, flexDirection: 'column' }}&gt;&#13;&#10;                    &lt;Text style={{ fontSize: 18, fontWeight: 'bold', color: '#1F2430' }}&gt;粘贴档案&lt;/Text&gt;&#13;&#10;                    &lt;Text style={{ fontSize: 14, color: '#5A6376', lineHeight: 1.4 }}&gt;&#13;&#10;                        粘进「用户档案数据」文本框&#13;&#10;                    &lt;/Text&gt;&#13;&#10;                &lt;/Box&gt;&#13;&#10;            &lt;/Box&gt;&#13;&#10;&#13;&#10;            &lt;Box style={{ flexDirection: 'row', gap: 12, alignItems: 'flex-start' }}&gt;&#13;&#10;                &lt;Box style={{&#13;&#10;                    width: 30, height: 30, borderRadius: 8, background: '#E8478B',&#13;&#10;                    alignItems: 'center', justifyContent: 'center',&#13;&#10;                }}&gt;&#13;&#10;                    &lt;Text style={{ fontSize: 16, fontWeight: 'bold', color: '#FFFFFF' }}&gt;4&lt;/Text&gt;&#13;&#10;                &lt;/Box&gt;&#13;&#10;                &lt;Box style={{ flex: 1, flexDirection: 'column' }}&gt;&#13;&#10;                    &lt;Text style={{ fontSize: 18, fontWeight: 'bold', color: '#1F2430' }}&gt;点 导入&lt;/Text&gt;&#13;&#10;                    &lt;Text style={{ fontSize: 14, color: '#5A6376', lineHeight: 1.4 }}&gt;&#13;&#10;                        文本框左下角正下方那个按钮&#13;&#10;                    &lt;/Text&gt;&#13;&#10;                &lt;/Box&gt;&#13;&#10;            &lt;/Box&gt;&#13;&#10;&#13;&#10;            &lt;Box style={{&#13;&#10;                flexDirection: 'row', gap: 10, alignItems: 'flex-start',&#13;&#10;                background: 'rgba(232,71,139,0.07)', borderRadius: 10, padding: '11px 15px',&#13;&#10;                marginTop: 2,&#13;&#10;            }}&gt;&#13;&#10;                &lt;Box style={{ width: 4, height: 44, background: '#E8478B', borderRadius: 2 }} /&gt;&#13;&#10;                &lt;Box style={{ flex: 1, flexDirection: 'column' }}&gt;&#13;&#10;                    &lt;Text style={{ fontSize: 14, fontWeight: 'bold', color: '#1F2430', lineHeight: 1.45 }}&gt;&#13;&#10;                        登录入口不在右上角，在页面中部&#13;&#10;                    &lt;/Text&gt;&#13;&#10;                    &lt;Text style={{ fontSize: 14, color: '#5A6376', lineHeight: 1.45 }}&gt;&#13;&#10;                        上一页已把界面切成中文，所以这里的截图都是中文的。等级 / 技能填的是满值，只影响算分，不影响卡牌归属。&#13;&#10;                    &lt;/Text&gt;&#13;&#10;                &lt;/Box&gt;&#13;&#10;            &lt;/Box&gt;&#13;&#10;&#13;&#10;        &lt;/Box&gt;&#13;&#10;    &lt;/Box&gt;&#13;&#10;&#13;&#10;    {/* ===== C · 页脚条 ===== */}&#13;&#10;    &lt;Box style={{ height: 60, flexDirection: 'row', alignItems: 'center', justifyContent: 'space-between' }}&gt;&#13;&#10;        &lt;Text style={{ fontSize: 15, color: '#8A93A6' }}&gt;BestdoriHelper 使用说明&lt;/Text&gt;&#13;&#10;        &lt;Text style={{ fontSize: 15, color: '#8A93A6' }}&gt;14 / 15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6858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95350" y="45720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2430"/>
                </a:solidFill>
                <a:latin typeface="Microsoft YaHei"/>
                <a:ea typeface="Microsoft YaHei"/>
              </a:rPr>
              <a:t>在官网上导入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105150" y="561975"/>
            <a:ext cx="2619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8A93A6"/>
                </a:solidFill>
                <a:latin typeface="Microsoft YaHei"/>
                <a:ea typeface="Microsoft YaHei"/>
              </a:rPr>
              <a:t>bestdori.com/profile/manager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85800" y="1533525"/>
            <a:ext cx="6667500" cy="4171950"/>
          </a:xfrm>
          <a:prstGeom prst="roundRect">
            <a:avLst>
              <a:gd name="adj" fmla="val 2740"/>
            </a:avLst>
          </a:prstGeom>
          <a:solidFill>
            <a:srgbClr val="1F2430"/>
          </a:solidFill>
          <a:ln w="12700">
            <a:solidFill>
              <a:srgbClr val="2E3442"/>
            </a:solidFill>
            <a:prstDash val="solid"/>
          </a:ln>
          <a:effectLst>
            <a:outerShdw blurRad="228600" dist="57150" dir="5400000">
              <a:srgbClr val="1F243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17" name=""/>
          <p:cNvPicPr>
            <a:picLocks noChangeAspect="1"/>
          </p:cNvPicPr>
          <p:nvPr/>
        </p:nvPicPr>
        <p:blipFill>
          <a:blip r:embed="rId1"/>
          <a:srcRect l="57" t="0" r="57" b="0"/>
          <a:stretch>
            <a:fillRect/>
          </a:stretch>
        </p:blipFill>
        <p:spPr>
          <a:xfrm rot="0" flipH="0" flipV="0">
            <a:off x="685800" y="1533525"/>
            <a:ext cx="6667500" cy="4171950"/>
          </a:xfrm>
          <a:custGeom>
            <a:pathLst>
              <a:path w="700" h="438">
                <a:moveTo>
                  <a:pt x="688" y="0"/>
                </a:moveTo>
                <a:cubicBezTo>
                  <a:pt x="695" y="0"/>
                  <a:pt x="700" y="5"/>
                  <a:pt x="700" y="12"/>
                </a:cubicBezTo>
                <a:lnTo>
                  <a:pt x="700" y="426"/>
                </a:lnTo>
                <a:cubicBezTo>
                  <a:pt x="700" y="433"/>
                  <a:pt x="695" y="438"/>
                  <a:pt x="688" y="438"/>
                </a:cubicBezTo>
                <a:lnTo>
                  <a:pt x="12" y="438"/>
                </a:lnTo>
                <a:cubicBezTo>
                  <a:pt x="5" y="438"/>
                  <a:pt x="0" y="433"/>
                  <a:pt x="0" y="426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88" y="0"/>
                </a:lnTo>
                <a:close/>
              </a:path>
            </a:pathLst>
          </a:custGeom>
          <a:ln/>
        </p:spPr>
      </p:pic>
      <p:sp>
        <p:nvSpPr>
          <p:cNvPr id="118" name=""/>
          <p:cNvSpPr/>
          <p:nvPr/>
        </p:nvSpPr>
        <p:spPr>
          <a:xfrm rot="0" flipH="0" flipV="0">
            <a:off x="7600950" y="199072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696200" y="20383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001000" y="1990725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Microsoft YaHei"/>
                <a:ea typeface="Microsoft YaHei"/>
              </a:rPr>
              <a:t>先登录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001000" y="2200275"/>
            <a:ext cx="35052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页面中部「云存取」那段里的</a:t>
            </a:r>
            <a:r>
              <a:rPr lang="en-US" sz="1050">
                <a:solidFill>
                  <a:srgbClr val="5A6376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登录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7600950" y="25717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696200" y="26193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001000" y="2571750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Microsoft YaHei"/>
                <a:ea typeface="Microsoft YaHei"/>
              </a:rPr>
              <a:t>点侧栏</a:t>
            </a:r>
            <a:r>
              <a:rPr lang="en-US" sz="1350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 b="1">
                <a:solidFill>
                  <a:srgbClr val="1F2430"/>
                </a:solidFill>
                <a:latin typeface="Microsoft YaHei"/>
                <a:ea typeface="Microsoft YaHei"/>
              </a:rPr>
              <a:t>导入资料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001000" y="2781300"/>
            <a:ext cx="35052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左栏「用户档案」组里，云存取下一行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7600950" y="315277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696200" y="32004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001000" y="3152775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Microsoft YaHei"/>
                <a:ea typeface="Microsoft YaHei"/>
              </a:rPr>
              <a:t>粘贴档案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001000" y="3362325"/>
            <a:ext cx="35052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粘进「用户档案数据」文本框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600950" y="37338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696200" y="37814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001000" y="3733800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Microsoft YaHei"/>
                <a:ea typeface="Microsoft YaHei"/>
              </a:rPr>
              <a:t>点</a:t>
            </a:r>
            <a:r>
              <a:rPr lang="en-US" sz="1350" b="1">
                <a:solidFill>
                  <a:srgbClr val="1F24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 b="1">
                <a:solidFill>
                  <a:srgbClr val="1F2430"/>
                </a:solidFill>
                <a:latin typeface="Microsoft YaHei"/>
                <a:ea typeface="Microsoft YaHei"/>
              </a:rPr>
              <a:t>导入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001000" y="3943350"/>
            <a:ext cx="35052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文本框左下角正下方那个按钮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7600950" y="4333875"/>
            <a:ext cx="3905250" cy="914400"/>
          </a:xfrm>
          <a:prstGeom prst="roundRect">
            <a:avLst>
              <a:gd name="adj" fmla="val 10417"/>
            </a:avLst>
          </a:prstGeom>
          <a:solidFill>
            <a:srgbClr val="E8478B">
              <a:alpha val="7000"/>
            </a:srgbClr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7743825" y="4438650"/>
            <a:ext cx="38100" cy="41910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877175" y="4438650"/>
            <a:ext cx="34861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1F2430"/>
                </a:solidFill>
                <a:latin typeface="Microsoft YaHei"/>
                <a:ea typeface="Microsoft YaHei"/>
              </a:rPr>
              <a:t>登录入口不在右上角，在页面中部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877175" y="4676775"/>
            <a:ext cx="34861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上一页已把界面切成中文，所以这里的截图都是中文的。等级</a:t>
            </a:r>
            <a:r>
              <a:rPr lang="en-US" sz="1050">
                <a:solidFill>
                  <a:srgbClr val="5A637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5A6376"/>
                </a:solidFill>
                <a:latin typeface="Microsoft YaHei"/>
                <a:ea typeface="Microsoft YaHei"/>
              </a:rPr>
              <a:t>技能填的是满值，只影响算分，不影响卡牌归属。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85800" y="62960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BestdoriHelper </a:t>
            </a: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020425" y="6296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0" name="" descr="&lt;Slide style={{ width: 1280, height: 720, padding: 0, position: 'relative', overflow: 'hidden', background: '#1F2430' }}&gt;&#13;&#10;&#13;&#10;    {/* ===== 背景 ===== */}&#13;&#10;    &lt;Box style={{ position: 'absolute', top: 0, left: 0, width: 1280, height: 720 }}&gt;&#13;&#10;        &lt;svg width={1280} height={720} viewBox='0 0 1280 720'&gt;&#13;&#10;            &lt;defs&gt;&#13;&#10;                &lt;linearGradient id='endbg' x1='0' y1='0' x2='1' y2='1'&gt;&#13;&#10;                    &lt;stop offset='0%' stopColor='#1B1F2A' /&gt;&#13;&#10;                    &lt;stop offset='52%' stopColor='#272E3D' /&gt;&#13;&#10;                    &lt;stop offset='100%' stopColor='#2F3849' /&gt;&#13;&#10;                &lt;/linearGradient&gt;&#13;&#10;                &lt;radialGradient id='endglow' cx='0.74' cy='0.42' r='0.70'&gt;&#13;&#10;                    &lt;stop offset='0%' stopColor='#E8478B' stopOpacity='0.40' /&gt;&#13;&#10;                    &lt;stop offset='58%' stopColor='#E8478B' stopOpacity='0.10' /&gt;&#13;&#10;                    &lt;stop offset='100%' stopColor='#E8478B' stopOpacity='0' /&gt;&#13;&#10;                &lt;/radialGradient&gt;&#13;&#10;            &lt;/defs&gt;&#13;&#10;            &lt;rect x='0' y='0' width='1280' height='720' fill='url(#endbg)' /&gt;&#13;&#10;            &lt;rect x='0' y='0' width='1280' height='720' fill='url(#endglow)' /&gt;&#13;&#10;&#13;&#10;            {/* 右侧：一排卡面，最后一张是粉色（同步完成的感觉） */}&#13;&#10;            &lt;g&gt;&#13;&#10;                &lt;rect x='856' y='250' width='100' height='136' rx='10' fill='#FFFFFF' fillOpacity='0.06' /&gt;&#13;&#10;                &lt;rect x='972' y='250' width='100' height='136' rx='10' fill='#FFFFFF' fillOpacity='0.05' /&gt;&#13;&#10;                &lt;rect x='1088' y='250' width='100' height='136' rx='10' fill='#E8478B' fillOpacity='0.55' /&gt;&#13;&#10;                {/* 勾 */}&#13;&#10;                &lt;path d='M1118 316 l20 20 l40 -42' fill='none' stroke='#FFFFFF' strokeOpacity='0.9' strokeWidth='5'&#13;&#10;                    strokeLinecap='round' strokeLinejoin='round' /&gt;&#13;&#10;            &lt;/g&gt;&#13;&#10;&#13;&#10;            {/* 装饰弧 */}&#13;&#10;            &lt;circle cx='1240' cy='60' r='240' fill='none' stroke='#FFFFFF' strokeOpacity='0.04' strokeWidth='1' /&gt;&#13;&#10;            &lt;circle cx='60' cy='660' r='170' fill='none' stroke='#E8478B' strokeOpacity='0.12' strokeWidth='1.5' /&gt;&#13;&#10;        &lt;/svg&gt;&#13;&#10;    &lt;/Box&gt;&#13;&#10;&#13;&#10;    {/* ===== 内容 ===== */}&#13;&#10;    &lt;Box style={{&#13;&#10;        position: 'relative', zIndex: 1, height: '100%',&#13;&#10;        flexDirection: 'column', justifyContent: 'center',&#13;&#10;        paddingLeft: 96, paddingRight: 96, gap: 24,&#13;&#10;    }}&gt;&#13;&#10;        &lt;Box style={{ flexDirection: 'row', alignItems: 'center', gap: 12 }}&gt;&#13;&#10;            &lt;Box style={{ width: 44, height: 4, background: '#E8478B', borderRadius: 2 }} /&gt;&#13;&#10;            &lt;Text style={{ fontSize: 20, color: '#E8478B', fontWeight: 'bold', letterSpacing: 3 }}&gt;&#13;&#10;                就这些&#13;&#10;            &lt;/Text&gt;&#13;&#10;        &lt;/Box&gt;&#13;&#10;&#13;&#10;        &lt;Text style={{ fontSize: 72, fontWeight: 'bold', color: '#FFFFFF', lineHeight: 1.15 }}&gt;&#13;&#10;            现在就去试&#13;&#10;        &lt;/Text&gt;&#13;&#10;&#13;&#10;        &lt;Text style={{ fontSize: 22, color: '#C9CEDA', lineHeight: 1.6 }}&gt;&#13;&#10;            截一张卡面列表图丢进去，剩下的交给它&#13;&#10;        &lt;/Text&gt;&#13;&#10;&#13;&#10;        &lt;Box style={{ width: 68, height: 4, background: '#E8478B', borderRadius: 2, marginTop: 4 }} /&gt;&#13;&#10;&#13;&#10;        {/* 入口 */}&#13;&#10;        &lt;Box style={{ flexDirection: 'row', gap: 40, marginTop: 10 }}&gt;&#13;&#10;            &lt;Box style={{ flexDirection: 'column', gap: 5 }}&gt;&#13;&#10;                &lt;Text style={{ fontSize: 15, color: '#8A93A6' }}&gt;网页版（免安装）&lt;/Text&gt;&#13;&#10;                &lt;Text style={{ fontSize: 19, color: '#FFFFFF', fontWeight: 'bold' }}&gt;&#13;&#10;                    frankiesondesu.github.io/BestdoriHelper&#13;&#10;                &lt;/Text&gt;&#13;&#10;            &lt;/Box&gt;&#13;&#10;            &lt;Box style={{ flexDirection: 'column', gap: 5 }}&gt;&#13;&#10;                &lt;Text style={{ fontSize: 15, color: '#8A93A6' }}&gt;安卓 / Windows&lt;/Text&gt;&#13;&#10;                &lt;Text style={{ fontSize: 19, color: '#FFFFFF', fontWeight: 'bold' }}&gt;&#13;&#10;                    仓库 Releases 里下载&#13;&#10;                &lt;/Text&gt;&#13;&#10;            &lt;/Box&gt;&#13;&#10;        &lt;/Box&gt;&#13;&#10;    &lt;/Box&gt;&#13;&#10;&#13;&#10;    {/* 底部小字 */}&#13;&#10;    &lt;Box style={{ position: 'absolute', left: 96, bottom: 44, zIndex: 1 }}&gt;&#13;&#10;        &lt;Text style={{ fontSize: 15, color: '#6B7280' }}&gt;&#13;&#10;            图片只在本机处理，不上传 · 账号密码只发往 bestdori.com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p/>
        </p:txBody>
      </p:sp>
      <p:pic>
        <p:nvPicPr>
          <p:cNvPr id="142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43" name=""/>
          <p:cNvSpPr/>
          <p:nvPr/>
        </p:nvSpPr>
        <p:spPr>
          <a:xfrm rot="0" flipH="0" flipV="0">
            <a:off x="914400" y="197167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447800" y="1876425"/>
            <a:ext cx="657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225">
                <a:solidFill>
                  <a:srgbClr val="E8478B"/>
                </a:solidFill>
                <a:latin typeface="Microsoft YaHei"/>
                <a:ea typeface="Microsoft YaHei"/>
              </a:rPr>
              <a:t>就这些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14400" y="2333625"/>
            <a:ext cx="10363200" cy="9525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现在就去试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14400" y="3514725"/>
            <a:ext cx="103632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C9CEDA"/>
                </a:solidFill>
                <a:latin typeface="Microsoft YaHei"/>
                <a:ea typeface="Microsoft YaHei"/>
              </a:rPr>
              <a:t>截一张卡面列表图丢进去，剩下的交给它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914400" y="4191000"/>
            <a:ext cx="647700" cy="38100"/>
          </a:xfrm>
          <a:prstGeom prst="roundRect">
            <a:avLst>
              <a:gd name="adj" fmla="val 50000"/>
            </a:avLst>
          </a:prstGeom>
          <a:solidFill>
            <a:srgbClr val="E8478B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14400" y="4552950"/>
            <a:ext cx="3743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网页版（免安装）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14400" y="4772025"/>
            <a:ext cx="3743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frankiesondesu.github.io/BestdoriHelper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038725" y="4552950"/>
            <a:ext cx="179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3A6"/>
                </a:solidFill>
                <a:latin typeface="Microsoft YaHei"/>
                <a:ea typeface="Microsoft YaHei"/>
              </a:rPr>
              <a:t>安卓</a:t>
            </a:r>
            <a:r>
              <a:rPr lang="en-US" sz="1125">
                <a:solidFill>
                  <a:srgbClr val="8A93A6"/>
                </a:solidFill>
                <a:latin typeface="Microsoft YaHei"/>
                <a:ea typeface="Microsoft YaHei"/>
              </a:rPr>
              <a:t xml:space="preserve"> / Windows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038725" y="4772025"/>
            <a:ext cx="1790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仓库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Releases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里下载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14400" y="626745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图片只在本机处理，不上传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账号密码只发往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 bestdori.com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2026-09-22T15:12:57Z</dcterms:created>
  <dcterms:modified xsi:type="dcterms:W3CDTF">2026-09-22T15:12:57Z</dcterms:modified>
</cp:coreProperties>
</file>